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60" r:id="rId3"/>
    <p:sldId id="261" r:id="rId4"/>
    <p:sldId id="262" r:id="rId5"/>
    <p:sldId id="265" r:id="rId6"/>
    <p:sldId id="267" r:id="rId7"/>
    <p:sldId id="269" r:id="rId8"/>
    <p:sldId id="270" r:id="rId9"/>
    <p:sldId id="271" r:id="rId10"/>
    <p:sldId id="263" r:id="rId11"/>
    <p:sldId id="264" r:id="rId12"/>
    <p:sldId id="281" r:id="rId13"/>
    <p:sldId id="272" r:id="rId14"/>
    <p:sldId id="273" r:id="rId15"/>
    <p:sldId id="274" r:id="rId16"/>
    <p:sldId id="275" r:id="rId17"/>
    <p:sldId id="276" r:id="rId18"/>
    <p:sldId id="282" r:id="rId19"/>
    <p:sldId id="283" r:id="rId20"/>
    <p:sldId id="304" r:id="rId21"/>
    <p:sldId id="305" r:id="rId22"/>
    <p:sldId id="298" r:id="rId23"/>
    <p:sldId id="300" r:id="rId24"/>
    <p:sldId id="302" r:id="rId25"/>
    <p:sldId id="303" r:id="rId26"/>
    <p:sldId id="284" r:id="rId27"/>
    <p:sldId id="285" r:id="rId28"/>
    <p:sldId id="286" r:id="rId29"/>
    <p:sldId id="268" r:id="rId30"/>
    <p:sldId id="287" r:id="rId31"/>
    <p:sldId id="288" r:id="rId32"/>
    <p:sldId id="289" r:id="rId33"/>
    <p:sldId id="291" r:id="rId34"/>
    <p:sldId id="293" r:id="rId35"/>
    <p:sldId id="295" r:id="rId36"/>
    <p:sldId id="266" r:id="rId37"/>
    <p:sldId id="296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270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633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54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8243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861740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19922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6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94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000748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33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63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47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9000"/>
            <a:lum/>
          </a:blip>
          <a:srcRect/>
          <a:stretch>
            <a:fillRect l="86000" t="80000" r="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2194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CFE2DE-F527-411E-9057-2CC4C95BC3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CC3300"/>
                </a:solidFill>
              </a:rPr>
              <a:t>Industrial electronics N5</a:t>
            </a:r>
            <a:br>
              <a:rPr lang="en-US" sz="7200" dirty="0">
                <a:solidFill>
                  <a:srgbClr val="CC3300"/>
                </a:solidFill>
              </a:rPr>
            </a:br>
            <a:r>
              <a:rPr lang="en-US" sz="7200" dirty="0">
                <a:solidFill>
                  <a:srgbClr val="CC3300"/>
                </a:solidFill>
              </a:rPr>
              <a:t>(8080175)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510F68A-E8DF-464F-9E99-FFD3131C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523" y="5993710"/>
            <a:ext cx="9647534" cy="74227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Programme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(s):Electrical engineering all groups</a:t>
            </a:r>
          </a:p>
          <a:p>
            <a:pPr algn="l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Lecturer(s):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Mr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mbele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74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1B49167-9745-4908-B830-CE256BB9B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2" y="1231506"/>
            <a:ext cx="10318418" cy="4394988"/>
          </a:xfrm>
        </p:spPr>
        <p:txBody>
          <a:bodyPr/>
          <a:lstStyle/>
          <a:p>
            <a:r>
              <a:rPr lang="en-US" sz="9600" dirty="0">
                <a:solidFill>
                  <a:srgbClr val="CC6600"/>
                </a:solidFill>
              </a:rPr>
              <a:t>Power supplies</a:t>
            </a:r>
            <a:endParaRPr lang="en-US" dirty="0">
              <a:solidFill>
                <a:srgbClr val="CC66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5F6E615B-778C-4B6B-B641-A698FCD9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5044" y="0"/>
            <a:ext cx="8045373" cy="9618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CC6600"/>
                </a:solidFill>
              </a:rPr>
              <a:t>Chapter 02 </a:t>
            </a:r>
          </a:p>
        </p:txBody>
      </p:sp>
    </p:spTree>
    <p:extLst>
      <p:ext uri="{BB962C8B-B14F-4D97-AF65-F5344CB8AC3E}">
        <p14:creationId xmlns:p14="http://schemas.microsoft.com/office/powerpoint/2010/main" val="362796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0007D6-06A7-4320-9B53-194478D9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F44F7A-195E-4FA7-B4E1-1979CB64F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71600"/>
            <a:ext cx="10178322" cy="4932217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Be able to briefly describe with the aid of a diagram and perform calculations on the following:</a:t>
            </a:r>
          </a:p>
          <a:p>
            <a:pPr marL="0" indent="0" algn="just">
              <a:buNone/>
            </a:pPr>
            <a:endParaRPr lang="en-US" sz="24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/>
              <a:t>RC </a:t>
            </a:r>
            <a:r>
              <a:rPr lang="el-GR" sz="2400" dirty="0"/>
              <a:t>π</a:t>
            </a:r>
            <a:r>
              <a:rPr lang="en-ZA" sz="2400" dirty="0"/>
              <a:t> filter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ZA" sz="2400" dirty="0"/>
              <a:t>LC π filter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ZA" sz="2400" dirty="0"/>
              <a:t>Simple capacitor filter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ZA" sz="2400" dirty="0"/>
              <a:t>REFERENCE DEVICE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ZA" sz="2400" dirty="0"/>
              <a:t>Voltage doubler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ZA" sz="2400" dirty="0"/>
              <a:t>Adjustable power supply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044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776D18-9354-43B8-851B-F39CFFCA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80358"/>
          </a:xfrm>
        </p:spPr>
        <p:txBody>
          <a:bodyPr/>
          <a:lstStyle/>
          <a:p>
            <a:r>
              <a:rPr lang="en-US" dirty="0"/>
              <a:t>2.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46F46D-8D3A-471C-A7D4-504E61342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073426"/>
            <a:ext cx="10178322" cy="5402189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sz="2400" dirty="0"/>
              <a:t>A power supply is a unit that supplies an electric power to a load.</a:t>
            </a:r>
          </a:p>
          <a:p>
            <a:pPr algn="just"/>
            <a:r>
              <a:rPr lang="en-US" sz="2400" dirty="0"/>
              <a:t>It converts AC to DC in most applications</a:t>
            </a:r>
          </a:p>
          <a:p>
            <a:pPr algn="just"/>
            <a:r>
              <a:rPr lang="en-US" sz="2400" dirty="0"/>
              <a:t>It is composed of four stages namely; transformer stage, rectifier stage, filter stage and regulator stage.</a:t>
            </a:r>
          </a:p>
          <a:p>
            <a:pPr algn="just"/>
            <a:r>
              <a:rPr lang="en-US" sz="2400" dirty="0"/>
              <a:t>These stages work together to convert AC in DC to power the load connected into it.</a:t>
            </a:r>
          </a:p>
        </p:txBody>
      </p:sp>
    </p:spTree>
    <p:extLst>
      <p:ext uri="{BB962C8B-B14F-4D97-AF65-F5344CB8AC3E}">
        <p14:creationId xmlns:p14="http://schemas.microsoft.com/office/powerpoint/2010/main" val="245342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E0A1EC-C732-4780-B2A9-868CEF77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94872"/>
          </a:xfrm>
        </p:spPr>
        <p:txBody>
          <a:bodyPr/>
          <a:lstStyle/>
          <a:p>
            <a:r>
              <a:rPr lang="en-US" dirty="0"/>
              <a:t>4.Simple capacitor filter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74306C-4535-46CB-BD1D-1D404E40E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94971"/>
            <a:ext cx="10283830" cy="523407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The simple capacitor filter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 up of text on a whiteboard&#10;&#10;Description automatically generated">
            <a:extLst>
              <a:ext uri="{FF2B5EF4-FFF2-40B4-BE49-F238E27FC236}">
                <a16:creationId xmlns:a16="http://schemas.microsoft.com/office/drawing/2014/main" xmlns="" id="{2C360F10-34D7-498D-9F41-4E395BE40D8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940977" y="1984513"/>
            <a:ext cx="4345343" cy="2888974"/>
          </a:xfrm>
          <a:prstGeom prst="rect">
            <a:avLst/>
          </a:prstGeom>
        </p:spPr>
      </p:pic>
      <p:pic>
        <p:nvPicPr>
          <p:cNvPr id="8" name="Picture 7" descr="A close up of a whiteboard&#10;&#10;Description automatically generated">
            <a:extLst>
              <a:ext uri="{FF2B5EF4-FFF2-40B4-BE49-F238E27FC236}">
                <a16:creationId xmlns:a16="http://schemas.microsoft.com/office/drawing/2014/main" xmlns="" id="{B260ADD3-087F-4097-9C52-A4B9116A4B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50000"/>
          </a:blip>
          <a:srcRect t="4209" r="1813" b="64307"/>
          <a:stretch/>
        </p:blipFill>
        <p:spPr>
          <a:xfrm>
            <a:off x="5388466" y="2319130"/>
            <a:ext cx="4345343" cy="2159160"/>
          </a:xfrm>
          <a:prstGeom prst="rect">
            <a:avLst/>
          </a:prstGeom>
        </p:spPr>
      </p:pic>
      <p:pic>
        <p:nvPicPr>
          <p:cNvPr id="10" name="Picture 9" descr="A close up of text on a whiteboard&#10;&#10;Description automatically generated">
            <a:extLst>
              <a:ext uri="{FF2B5EF4-FFF2-40B4-BE49-F238E27FC236}">
                <a16:creationId xmlns:a16="http://schemas.microsoft.com/office/drawing/2014/main" xmlns="" id="{648ED9F6-06E5-4BFC-85A4-5E5CF884C40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biLevel thresh="50000"/>
          </a:blip>
          <a:srcRect t="30564" r="6118" b="37952"/>
          <a:stretch/>
        </p:blipFill>
        <p:spPr>
          <a:xfrm>
            <a:off x="1251678" y="4698840"/>
            <a:ext cx="3631673" cy="2159160"/>
          </a:xfrm>
          <a:prstGeom prst="rect">
            <a:avLst/>
          </a:prstGeom>
        </p:spPr>
      </p:pic>
      <p:pic>
        <p:nvPicPr>
          <p:cNvPr id="12" name="Picture 11" descr="A close up of text on a whiteboard&#10;&#10;Description automatically generated">
            <a:extLst>
              <a:ext uri="{FF2B5EF4-FFF2-40B4-BE49-F238E27FC236}">
                <a16:creationId xmlns:a16="http://schemas.microsoft.com/office/drawing/2014/main" xmlns="" id="{F2C2A68C-D898-4F8C-B1B6-0CD59A49591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biLevel thresh="50000"/>
          </a:blip>
          <a:srcRect l="7568" t="248" b="76000"/>
          <a:stretch/>
        </p:blipFill>
        <p:spPr>
          <a:xfrm>
            <a:off x="5597021" y="4698840"/>
            <a:ext cx="5132293" cy="213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1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41501"/>
          </a:xfrm>
        </p:spPr>
        <p:txBody>
          <a:bodyPr>
            <a:normAutofit/>
          </a:bodyPr>
          <a:lstStyle/>
          <a:p>
            <a:r>
              <a:rPr lang="en-ZA" sz="3600" dirty="0"/>
              <a:t>5.Rc </a:t>
            </a:r>
            <a:r>
              <a:rPr lang="el-GR" sz="3600" dirty="0"/>
              <a:t>π</a:t>
            </a:r>
            <a:r>
              <a:rPr lang="en-ZA" sz="3600" dirty="0"/>
              <a:t> filter</a:t>
            </a:r>
          </a:p>
        </p:txBody>
      </p:sp>
      <p:pic>
        <p:nvPicPr>
          <p:cNvPr id="5" name="Content Placeholder 4" descr="A close up of a whiteboard&#10;&#10;Description automatically generated">
            <a:extLst>
              <a:ext uri="{FF2B5EF4-FFF2-40B4-BE49-F238E27FC236}">
                <a16:creationId xmlns:a16="http://schemas.microsoft.com/office/drawing/2014/main" xmlns="" id="{59F5F370-027E-4BE9-B26B-2692C67D0C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50000"/>
          </a:blip>
          <a:srcRect t="37389" b="34649"/>
          <a:stretch/>
        </p:blipFill>
        <p:spPr>
          <a:xfrm>
            <a:off x="976369" y="1123885"/>
            <a:ext cx="4483731" cy="1942871"/>
          </a:xfrm>
        </p:spPr>
      </p:pic>
      <p:pic>
        <p:nvPicPr>
          <p:cNvPr id="9" name="Picture 8" descr="A close up of text on a whiteboard&#10;&#10;Description automatically generated">
            <a:extLst>
              <a:ext uri="{FF2B5EF4-FFF2-40B4-BE49-F238E27FC236}">
                <a16:creationId xmlns:a16="http://schemas.microsoft.com/office/drawing/2014/main" xmlns="" id="{C3889165-5CF9-4C74-8175-CDBED70C93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50000"/>
          </a:blip>
          <a:srcRect t="23385" b="53641"/>
          <a:stretch/>
        </p:blipFill>
        <p:spPr>
          <a:xfrm>
            <a:off x="5583380" y="1123885"/>
            <a:ext cx="5219361" cy="1942870"/>
          </a:xfrm>
          <a:prstGeom prst="rect">
            <a:avLst/>
          </a:prstGeom>
        </p:spPr>
      </p:pic>
      <p:pic>
        <p:nvPicPr>
          <p:cNvPr id="11" name="Picture 10" descr="A close up of text on a whiteboard&#10;&#10;Description automatically generated">
            <a:extLst>
              <a:ext uri="{FF2B5EF4-FFF2-40B4-BE49-F238E27FC236}">
                <a16:creationId xmlns:a16="http://schemas.microsoft.com/office/drawing/2014/main" xmlns="" id="{36DFF46A-985C-4019-854E-EC90F0D679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50000"/>
          </a:blip>
          <a:srcRect l="1" t="46358" r="4245" b="2565"/>
          <a:stretch/>
        </p:blipFill>
        <p:spPr>
          <a:xfrm>
            <a:off x="976369" y="3193365"/>
            <a:ext cx="4052989" cy="350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1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555461"/>
          </a:xfrm>
        </p:spPr>
        <p:txBody>
          <a:bodyPr>
            <a:normAutofit/>
          </a:bodyPr>
          <a:lstStyle/>
          <a:p>
            <a:r>
              <a:rPr lang="en-ZA" sz="3200" dirty="0"/>
              <a:t>36.Lc </a:t>
            </a:r>
            <a:r>
              <a:rPr lang="el-GR" sz="3200" dirty="0"/>
              <a:t>π</a:t>
            </a:r>
            <a:r>
              <a:rPr lang="en-ZA" sz="3200" dirty="0"/>
              <a:t> filter</a:t>
            </a:r>
          </a:p>
        </p:txBody>
      </p:sp>
      <p:pic>
        <p:nvPicPr>
          <p:cNvPr id="5" name="Content Placeholder 4" descr="A close up of a whiteboard&#10;&#10;Description automatically generated">
            <a:extLst>
              <a:ext uri="{FF2B5EF4-FFF2-40B4-BE49-F238E27FC236}">
                <a16:creationId xmlns:a16="http://schemas.microsoft.com/office/drawing/2014/main" xmlns="" id="{5BADA730-771B-4D6B-A936-22B545D7C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50000"/>
          </a:blip>
          <a:srcRect t="68339" b="1577"/>
          <a:stretch/>
        </p:blipFill>
        <p:spPr>
          <a:xfrm>
            <a:off x="3338732" y="815926"/>
            <a:ext cx="5514534" cy="2415091"/>
          </a:xfrm>
        </p:spPr>
      </p:pic>
      <p:pic>
        <p:nvPicPr>
          <p:cNvPr id="7" name="Picture 6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xmlns="" id="{E74F2AC0-FB16-4ECF-A2E8-F729D378A9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50000"/>
          </a:blip>
          <a:srcRect l="18808" t="5574" r="7461" b="8718"/>
          <a:stretch/>
        </p:blipFill>
        <p:spPr>
          <a:xfrm>
            <a:off x="3338733" y="3252252"/>
            <a:ext cx="5514534" cy="360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0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7814" y="257909"/>
            <a:ext cx="10152185" cy="5621684"/>
          </a:xfrm>
        </p:spPr>
        <p:txBody>
          <a:bodyPr/>
          <a:lstStyle/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b="1" u="sng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74CFEB0-B38C-4FC8-93B0-14C9D55C7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21" t="5376" r="12356" b="9478"/>
          <a:stretch/>
        </p:blipFill>
        <p:spPr>
          <a:xfrm>
            <a:off x="1899137" y="257908"/>
            <a:ext cx="7287066" cy="638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1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31307"/>
          </a:xfrm>
        </p:spPr>
        <p:txBody>
          <a:bodyPr>
            <a:normAutofit/>
          </a:bodyPr>
          <a:lstStyle/>
          <a:p>
            <a:r>
              <a:rPr lang="en-ZA" sz="3600" dirty="0"/>
              <a:t>7.activity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5415" y="1113693"/>
            <a:ext cx="10304585" cy="553889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ZA" dirty="0"/>
              <a:t>Calculate the ripple percentage of a simple capacitor filter if the supply voltage is 15V, input direct current of 10mA, minimum supply frequency of 100 Hz after full wave rectification and a capacitor of 1000µF.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An RC </a:t>
            </a:r>
            <a:r>
              <a:rPr lang="el-GR" dirty="0"/>
              <a:t>π</a:t>
            </a:r>
            <a:r>
              <a:rPr lang="en-ZA" dirty="0"/>
              <a:t> filter circuit has supply frequency of 50 Hz from a bridge rectifier, load resistance of 1.5K</a:t>
            </a:r>
            <a:r>
              <a:rPr lang="el-GR" dirty="0"/>
              <a:t>Ω</a:t>
            </a:r>
            <a:r>
              <a:rPr lang="en-ZA" dirty="0"/>
              <a:t>, first capacitor of 470µF and second capacitor of 47µF , series resistor of 10</a:t>
            </a:r>
            <a:r>
              <a:rPr lang="el-GR" dirty="0"/>
              <a:t>Ω</a:t>
            </a:r>
            <a:r>
              <a:rPr lang="en-ZA" dirty="0"/>
              <a:t>, input direct voltage of 16V and input ripple voltage of 1.8V. Calculator;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ZA" dirty="0"/>
              <a:t>Output voltage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ZA" dirty="0"/>
              <a:t>Output ripple voltage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ZA" dirty="0"/>
              <a:t>Input ripple factor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ZA" dirty="0"/>
              <a:t>Output ripple factor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2289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D50633-43A7-4B1F-8673-E4926344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664537"/>
          </a:xfrm>
        </p:spPr>
        <p:txBody>
          <a:bodyPr>
            <a:normAutofit fontScale="90000"/>
          </a:bodyPr>
          <a:lstStyle/>
          <a:p>
            <a:r>
              <a:rPr lang="en-US" dirty="0"/>
              <a:t>8. solution</a:t>
            </a:r>
          </a:p>
        </p:txBody>
      </p:sp>
    </p:spTree>
    <p:extLst>
      <p:ext uri="{BB962C8B-B14F-4D97-AF65-F5344CB8AC3E}">
        <p14:creationId xmlns:p14="http://schemas.microsoft.com/office/powerpoint/2010/main" val="584221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A24707-E2F5-44C0-9E88-6F8C570C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Additional resources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06839" y="1027045"/>
            <a:ext cx="10178322" cy="5448570"/>
          </a:xfrm>
        </p:spPr>
        <p:txBody>
          <a:bodyPr/>
          <a:lstStyle/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4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xmlns="" id="{9C677A3E-515E-4764-A34E-E424C06D415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06838" y="1414680"/>
            <a:ext cx="4589347" cy="5310725"/>
          </a:xfrm>
          <a:prstGeom prst="rect">
            <a:avLst/>
          </a:prstGeom>
        </p:spPr>
      </p:pic>
      <p:pic>
        <p:nvPicPr>
          <p:cNvPr id="7" name="Picture 6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xmlns="" id="{BCA328A8-7FAC-4186-A7D0-85CD8A573AC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6320025" y="1414681"/>
            <a:ext cx="5354814" cy="546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15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B47D89-1AFE-4014-B383-4C027B9F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REGULATOR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077EC4-A45A-4E19-8A16-BEA71C49C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02327"/>
            <a:ext cx="10178322" cy="5173288"/>
          </a:xfrm>
        </p:spPr>
        <p:txBody>
          <a:bodyPr>
            <a:normAutofit/>
          </a:bodyPr>
          <a:lstStyle/>
          <a:p>
            <a:r>
              <a:rPr lang="en-US" sz="2400" dirty="0"/>
              <a:t>Voltage regulation is the amount of change the output DC voltage experiences during varying load conditions.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When the output voltage is lower than the required voltage by the load, voltage multipliers are a requirement.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These voltage multipliers make used of capacitors and PN junction diodes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It is advisable that you have an understanding of the operation of a diode before going through this section.</a:t>
            </a:r>
          </a:p>
        </p:txBody>
      </p:sp>
    </p:spTree>
    <p:extLst>
      <p:ext uri="{BB962C8B-B14F-4D97-AF65-F5344CB8AC3E}">
        <p14:creationId xmlns:p14="http://schemas.microsoft.com/office/powerpoint/2010/main" val="25837207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814" y="382385"/>
            <a:ext cx="10152185" cy="825092"/>
          </a:xfrm>
        </p:spPr>
        <p:txBody>
          <a:bodyPr/>
          <a:lstStyle/>
          <a:p>
            <a:r>
              <a:rPr lang="en-ZA" dirty="0"/>
              <a:t>11.The voltage regulator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4031" y="1207477"/>
            <a:ext cx="10245969" cy="4672115"/>
          </a:xfrm>
        </p:spPr>
        <p:txBody>
          <a:bodyPr/>
          <a:lstStyle/>
          <a:p>
            <a:pPr marL="0" indent="0" algn="ctr">
              <a:buNone/>
            </a:pPr>
            <a:r>
              <a:rPr lang="en-ZA" b="1" u="sng" dirty="0"/>
              <a:t>%Voltage regulation</a:t>
            </a:r>
          </a:p>
          <a:p>
            <a:r>
              <a:rPr lang="en-US" dirty="0"/>
              <a:t>%Voltage regulation is the amount of change the output DC voltage experiences during varying load conditions.</a:t>
            </a:r>
          </a:p>
          <a:p>
            <a:pPr marL="0" indent="0" algn="ctr">
              <a:buNone/>
            </a:pPr>
            <a:r>
              <a:rPr lang="en-ZA" b="1" u="sng" dirty="0"/>
              <a:t>Regulator</a:t>
            </a:r>
          </a:p>
          <a:p>
            <a:r>
              <a:rPr lang="en-ZA" dirty="0"/>
              <a:t>An electronic device found in power supplies that maintains the output voltage constant irrespective of the load changes.</a:t>
            </a:r>
          </a:p>
          <a:p>
            <a:pPr marL="0" indent="0" algn="ctr">
              <a:buNone/>
            </a:pPr>
            <a:r>
              <a:rPr lang="en-ZA" b="1" u="sng" dirty="0"/>
              <a:t>Types of voltage regulators</a:t>
            </a:r>
          </a:p>
          <a:p>
            <a:r>
              <a:rPr lang="en-ZA" dirty="0"/>
              <a:t>Series regulator</a:t>
            </a:r>
          </a:p>
          <a:p>
            <a:r>
              <a:rPr lang="en-ZA" dirty="0"/>
              <a:t>Shunt regulator</a:t>
            </a:r>
          </a:p>
          <a:p>
            <a:pPr algn="ctr"/>
            <a:endParaRPr lang="en-ZA" b="1" u="sng" dirty="0"/>
          </a:p>
        </p:txBody>
      </p:sp>
    </p:spTree>
    <p:extLst>
      <p:ext uri="{BB962C8B-B14F-4D97-AF65-F5344CB8AC3E}">
        <p14:creationId xmlns:p14="http://schemas.microsoft.com/office/powerpoint/2010/main" val="13658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51693"/>
            <a:ext cx="10363200" cy="5527900"/>
          </a:xfrm>
        </p:spPr>
        <p:txBody>
          <a:bodyPr/>
          <a:lstStyle/>
          <a:p>
            <a:pPr marL="0" indent="0" algn="ctr">
              <a:buNone/>
            </a:pPr>
            <a:r>
              <a:rPr lang="en-ZA" b="1" u="sng" dirty="0"/>
              <a:t>Five major elements of a series voltage regulator</a:t>
            </a:r>
          </a:p>
          <a:p>
            <a:pPr>
              <a:buFont typeface="Wingdings" pitchFamily="2" charset="2"/>
              <a:buChar char="Ø"/>
            </a:pPr>
            <a:r>
              <a:rPr lang="en-ZA" dirty="0"/>
              <a:t>The reference element.</a:t>
            </a:r>
          </a:p>
          <a:p>
            <a:pPr marL="0" indent="0">
              <a:buNone/>
            </a:pPr>
            <a:endParaRPr lang="en-ZA" dirty="0"/>
          </a:p>
          <a:p>
            <a:pPr>
              <a:buFont typeface="Wingdings" pitchFamily="2" charset="2"/>
              <a:buChar char="Ø"/>
            </a:pPr>
            <a:r>
              <a:rPr lang="en-ZA" dirty="0"/>
              <a:t>The feedback element.</a:t>
            </a:r>
          </a:p>
          <a:p>
            <a:pPr marL="0" indent="0">
              <a:buNone/>
            </a:pPr>
            <a:endParaRPr lang="en-ZA" dirty="0"/>
          </a:p>
          <a:p>
            <a:pPr>
              <a:buFont typeface="Wingdings" pitchFamily="2" charset="2"/>
              <a:buChar char="Ø"/>
            </a:pPr>
            <a:r>
              <a:rPr lang="en-ZA" dirty="0"/>
              <a:t>The comparator.</a:t>
            </a:r>
          </a:p>
          <a:p>
            <a:pPr marL="0" indent="0">
              <a:buNone/>
            </a:pPr>
            <a:endParaRPr lang="en-ZA" dirty="0"/>
          </a:p>
          <a:p>
            <a:pPr>
              <a:buFont typeface="Wingdings" pitchFamily="2" charset="2"/>
              <a:buChar char="Ø"/>
            </a:pPr>
            <a:r>
              <a:rPr lang="en-ZA" dirty="0"/>
              <a:t>The optional protective element.</a:t>
            </a:r>
          </a:p>
          <a:p>
            <a:pPr marL="0" indent="0">
              <a:buNone/>
            </a:pPr>
            <a:endParaRPr lang="en-ZA" dirty="0"/>
          </a:p>
          <a:p>
            <a:pPr>
              <a:buFont typeface="Wingdings" pitchFamily="2" charset="2"/>
              <a:buChar char="Ø"/>
            </a:pPr>
            <a:r>
              <a:rPr lang="en-ZA" dirty="0"/>
              <a:t>The control element.</a:t>
            </a:r>
          </a:p>
        </p:txBody>
      </p:sp>
    </p:spTree>
    <p:extLst>
      <p:ext uri="{BB962C8B-B14F-4D97-AF65-F5344CB8AC3E}">
        <p14:creationId xmlns:p14="http://schemas.microsoft.com/office/powerpoint/2010/main" val="280085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4708" y="382385"/>
            <a:ext cx="10105292" cy="1188507"/>
          </a:xfrm>
        </p:spPr>
        <p:txBody>
          <a:bodyPr>
            <a:normAutofit fontScale="90000"/>
          </a:bodyPr>
          <a:lstStyle/>
          <a:p>
            <a:r>
              <a:rPr lang="en-ZA" dirty="0"/>
              <a:t>15.The block diagram of a series voltage reg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0D5ACE3A-10DF-491E-B7B0-C19F3B334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593" y="1817253"/>
            <a:ext cx="7931631" cy="450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2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66477"/>
          </a:xfrm>
        </p:spPr>
        <p:txBody>
          <a:bodyPr>
            <a:normAutofit fontScale="90000"/>
          </a:bodyPr>
          <a:lstStyle/>
          <a:p>
            <a:r>
              <a:rPr lang="en-ZA" dirty="0"/>
              <a:t>The elements explained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77814" y="1195755"/>
                <a:ext cx="10152185" cy="468383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ZA" b="1" u="sng" dirty="0"/>
                  <a:t>The control element</a:t>
                </a:r>
              </a:p>
              <a:p>
                <a:r>
                  <a:rPr lang="en-ZA" dirty="0"/>
                  <a:t>The function of the control element is to </a:t>
                </a:r>
                <a:r>
                  <a:rPr lang="en-ZA" b="1" dirty="0">
                    <a:solidFill>
                      <a:schemeClr val="accent3">
                        <a:lumMod val="50000"/>
                        <a:lumOff val="50000"/>
                      </a:schemeClr>
                    </a:solidFill>
                  </a:rPr>
                  <a:t>regulate the output voltage</a:t>
                </a:r>
                <a:r>
                  <a:rPr lang="en-ZA" dirty="0"/>
                  <a:t>.</a:t>
                </a:r>
              </a:p>
              <a:p>
                <a:r>
                  <a:rPr lang="en-ZA" dirty="0"/>
                  <a:t>Part of the output voltage is fed back by a voltage distributor to a </a:t>
                </a:r>
                <a:r>
                  <a:rPr lang="en-ZA" b="1" dirty="0">
                    <a:solidFill>
                      <a:schemeClr val="accent3">
                        <a:lumMod val="50000"/>
                        <a:lumOff val="50000"/>
                      </a:schemeClr>
                    </a:solidFill>
                  </a:rPr>
                  <a:t>comparator</a:t>
                </a:r>
                <a:r>
                  <a:rPr lang="en-ZA" dirty="0"/>
                  <a:t> where it is compared with the reference voltage.</a:t>
                </a:r>
              </a:p>
              <a:p>
                <a:r>
                  <a:rPr lang="en-ZA" dirty="0"/>
                  <a:t>Difference of the two voltages is fed back to the control element.</a:t>
                </a:r>
              </a:p>
              <a:p>
                <a:r>
                  <a:rPr lang="en-ZA" dirty="0"/>
                  <a:t>The degree of stabilizing during a voltage regulator is called a </a:t>
                </a:r>
                <a:r>
                  <a:rPr lang="en-ZA" b="1" dirty="0">
                    <a:solidFill>
                      <a:schemeClr val="accent3">
                        <a:lumMod val="50000"/>
                        <a:lumOff val="50000"/>
                      </a:schemeClr>
                    </a:solidFill>
                  </a:rPr>
                  <a:t>stabilizing factor </a:t>
                </a:r>
                <a:r>
                  <a:rPr lang="en-ZA" dirty="0"/>
                  <a:t>and is determined by : 	S </a:t>
                </a:r>
                <a14:m>
                  <m:oMath xmlns:m="http://schemas.openxmlformats.org/officeDocument/2006/math">
                    <m:r>
                      <a:rPr lang="en-ZA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ZA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ZA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ZA" b="0" i="1" smtClean="0">
                            <a:latin typeface="Cambria Math"/>
                            <a:ea typeface="Cambria Math"/>
                          </a:rPr>
                          <m:t>𝑉𝑜</m:t>
                        </m:r>
                      </m:num>
                      <m:den>
                        <m:r>
                          <a:rPr lang="en-ZA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ZA" b="0" i="1" smtClean="0">
                            <a:latin typeface="Cambria Math"/>
                            <a:ea typeface="Cambria Math"/>
                          </a:rPr>
                          <m:t>𝑉𝑖</m:t>
                        </m:r>
                      </m:den>
                    </m:f>
                  </m:oMath>
                </a14:m>
                <a:endParaRPr lang="en-ZA" dirty="0"/>
              </a:p>
              <a:p>
                <a:pPr marL="0" indent="0" algn="ctr">
                  <a:buNone/>
                </a:pPr>
                <a:r>
                  <a:rPr lang="en-ZA" b="1" u="sng" dirty="0"/>
                  <a:t>The reference source</a:t>
                </a:r>
              </a:p>
              <a:p>
                <a:r>
                  <a:rPr lang="en-ZA" dirty="0"/>
                  <a:t>This element makes use of a Zener diode which regulates as long as the input voltage is greater than the Zener voltage hence a series resistor is a requirement to absorb the voltage difference.</a:t>
                </a:r>
              </a:p>
              <a:p>
                <a:pPr algn="ctr"/>
                <a:endParaRPr lang="en-ZA" b="1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7814" y="1195755"/>
                <a:ext cx="10152185" cy="4683838"/>
              </a:xfrm>
              <a:blipFill>
                <a:blip r:embed="rId2"/>
                <a:stretch>
                  <a:fillRect l="-541" t="-52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10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251678" y="515815"/>
                <a:ext cx="10178322" cy="5363777"/>
              </a:xfrm>
            </p:spPr>
            <p:txBody>
              <a:bodyPr/>
              <a:lstStyle/>
              <a:p>
                <a:r>
                  <a:rPr lang="en-ZA" dirty="0"/>
                  <a:t>The circuit diagram of a Zener reference device</a:t>
                </a:r>
              </a:p>
              <a:p>
                <a:r>
                  <a:rPr lang="en-ZA" dirty="0"/>
                  <a:t>If the input voltage changes, voltage across the resistor will also change but the voltage across the diode remains constant. But the Zener current will change.</a:t>
                </a:r>
              </a:p>
              <a:p>
                <a:r>
                  <a:rPr lang="en-ZA" dirty="0"/>
                  <a:t>To protect the circuit against excessive current, minimum value of the series resistor and the load resistor must be known.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ZA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ZA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ZA" b="0" i="1" smtClean="0">
                            <a:latin typeface="Cambria Math"/>
                          </a:rPr>
                          <m:t>𝑠</m:t>
                        </m:r>
                        <m:r>
                          <a:rPr lang="en-ZA" b="0" i="1" smtClean="0">
                            <a:latin typeface="Cambria Math"/>
                          </a:rPr>
                          <m:t>(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lang="en-ZA" b="0" i="1" smtClean="0"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ZA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ZA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ZA" b="0" i="1" smtClean="0">
                            <a:latin typeface="Cambria Math"/>
                          </a:rPr>
                          <m:t>𝑉𝑖𝑛</m:t>
                        </m:r>
                        <m:d>
                          <m:dPr>
                            <m:ctrlPr>
                              <a:rPr lang="en-ZA" b="0" i="1" smtClean="0">
                                <a:latin typeface="Cambria Math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ZA" b="0" i="1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ZA" b="0" i="0" smtClean="0">
                                    <a:latin typeface="Cambria Math"/>
                                  </a:rPr>
                                  <m:t>max</m:t>
                                </m:r>
                              </m:fName>
                              <m:e/>
                            </m:func>
                          </m:e>
                        </m:d>
                        <m:r>
                          <a:rPr lang="en-ZA" b="0" i="1" smtClean="0">
                            <a:latin typeface="Cambria Math"/>
                          </a:rPr>
                          <m:t>−</m:t>
                        </m:r>
                        <m:r>
                          <a:rPr lang="en-ZA" b="0" i="1" smtClean="0">
                            <a:latin typeface="Cambria Math"/>
                          </a:rPr>
                          <m:t>𝑉𝑧</m:t>
                        </m:r>
                      </m:num>
                      <m:den>
                        <m:r>
                          <a:rPr lang="en-ZA" b="0" i="1" smtClean="0">
                            <a:latin typeface="Cambria Math"/>
                          </a:rPr>
                          <m:t>𝐼𝑧</m:t>
                        </m:r>
                        <m:r>
                          <a:rPr lang="en-ZA" b="0" i="1" smtClean="0">
                            <a:latin typeface="Cambria Math"/>
                          </a:rPr>
                          <m:t>(</m:t>
                        </m:r>
                        <m:func>
                          <m:funcPr>
                            <m:ctrlPr>
                              <a:rPr lang="en-ZA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ZA" b="0" i="0" smtClean="0">
                                <a:latin typeface="Cambria Math"/>
                              </a:rPr>
                              <m:t>max</m:t>
                            </m:r>
                          </m:fName>
                          <m:e/>
                        </m:func>
                        <m:r>
                          <a:rPr lang="en-ZA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en-ZA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ZA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ZA" b="0" i="1" smtClean="0">
                            <a:latin typeface="Cambria Math"/>
                          </a:rPr>
                          <m:t>𝑙</m:t>
                        </m:r>
                        <m:r>
                          <a:rPr lang="en-ZA" b="0" i="1" smtClean="0">
                            <a:latin typeface="Cambria Math"/>
                          </a:rPr>
                          <m:t>(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lang="en-ZA" b="0" i="1" smtClean="0"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ZA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ZA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ZA" b="0" i="1" smtClean="0">
                            <a:latin typeface="Cambria Math"/>
                          </a:rPr>
                          <m:t>𝑉𝑧</m:t>
                        </m:r>
                      </m:num>
                      <m:den>
                        <m:r>
                          <a:rPr lang="en-ZA" b="0" i="1" smtClean="0">
                            <a:latin typeface="Cambria Math"/>
                          </a:rPr>
                          <m:t>𝑉𝑖𝑛</m:t>
                        </m:r>
                        <m:d>
                          <m:dPr>
                            <m:ctrlPr>
                              <a:rPr lang="en-ZA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</m:d>
                        <m:r>
                          <a:rPr lang="en-ZA" b="0" i="1" smtClean="0">
                            <a:latin typeface="Cambria Math"/>
                          </a:rPr>
                          <m:t>−</m:t>
                        </m:r>
                        <m:r>
                          <a:rPr lang="en-ZA" b="0" i="1" smtClean="0">
                            <a:latin typeface="Cambria Math"/>
                          </a:rPr>
                          <m:t>𝑉𝑧</m:t>
                        </m:r>
                      </m:den>
                    </m:f>
                    <m:r>
                      <a:rPr lang="en-ZA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ZA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ZA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ZA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b>
                        <m:r>
                          <a:rPr lang="en-ZA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endParaRPr lang="en-ZA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1678" y="515815"/>
                <a:ext cx="10178322" cy="5363777"/>
              </a:xfrm>
              <a:blipFill>
                <a:blip r:embed="rId2"/>
                <a:stretch>
                  <a:fillRect l="-539" t="-568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237" y="3032980"/>
            <a:ext cx="30575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0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637523"/>
          </a:xfrm>
        </p:spPr>
        <p:txBody>
          <a:bodyPr>
            <a:normAutofit/>
          </a:bodyPr>
          <a:lstStyle/>
          <a:p>
            <a:r>
              <a:rPr lang="en-ZA" sz="3600" dirty="0"/>
              <a:t>18.example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430" y="1019908"/>
            <a:ext cx="10281138" cy="4595447"/>
          </a:xfrm>
        </p:spPr>
        <p:txBody>
          <a:bodyPr/>
          <a:lstStyle/>
          <a:p>
            <a:endParaRPr lang="en-ZA" b="0" dirty="0"/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6" name="Picture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xmlns="" id="{0A4DAAEC-853D-47F5-98A6-B0E8CE28E67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573194" y="857988"/>
            <a:ext cx="5887512" cy="600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40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A24707-E2F5-44C0-9E88-6F8C570C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19. activity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51678" y="1445807"/>
            <a:ext cx="10178322" cy="3966386"/>
          </a:xfrm>
        </p:spPr>
        <p:txBody>
          <a:bodyPr/>
          <a:lstStyle/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r>
              <a:rPr lang="en-ZA" sz="2800" b="1" dirty="0"/>
              <a:t>Calculate the minimum values of the load and series resistors in a Zener reference source which uses a 12V, 500mW Zener diode and a 18V ±1V supply.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49683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Basic series voltage regulator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29" b="41412"/>
          <a:stretch/>
        </p:blipFill>
        <p:spPr>
          <a:xfrm>
            <a:off x="1929611" y="2034862"/>
            <a:ext cx="7390739" cy="2871989"/>
          </a:xfrm>
        </p:spPr>
      </p:pic>
    </p:spTree>
    <p:extLst>
      <p:ext uri="{BB962C8B-B14F-4D97-AF65-F5344CB8AC3E}">
        <p14:creationId xmlns:p14="http://schemas.microsoft.com/office/powerpoint/2010/main" val="1987401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Series voltage regulator with adjustable ref source</a:t>
            </a:r>
            <a:endParaRPr lang="en-Z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5" b="53954"/>
          <a:stretch/>
        </p:blipFill>
        <p:spPr>
          <a:xfrm>
            <a:off x="1465972" y="2537138"/>
            <a:ext cx="9383654" cy="3168203"/>
          </a:xfrm>
        </p:spPr>
      </p:pic>
    </p:spTree>
    <p:extLst>
      <p:ext uri="{BB962C8B-B14F-4D97-AF65-F5344CB8AC3E}">
        <p14:creationId xmlns:p14="http://schemas.microsoft.com/office/powerpoint/2010/main" val="3673692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24291"/>
            <a:ext cx="4357499" cy="1053935"/>
          </a:xfrm>
        </p:spPr>
        <p:txBody>
          <a:bodyPr>
            <a:normAutofit fontScale="90000"/>
          </a:bodyPr>
          <a:lstStyle/>
          <a:p>
            <a:r>
              <a:rPr lang="en-ZA" sz="2800" dirty="0"/>
              <a:t>Operation of a series voltage regulator with 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22233"/>
            <a:ext cx="4672044" cy="543576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Consider figure 2.15 on page 2.19 as it will have one of the input connected to the potentiometer.  </a:t>
            </a: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The Pot serves as a voltage divider which makes the reference voltage adjustable. </a:t>
            </a: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For the circuit to be stable, a feedback network with a comparator is added. Figure 2.15</a:t>
            </a: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The pot together with R1 and R2 form an adjustable voltage divider network which supplies a feedback voltage from the output voltage to the differential amp.</a:t>
            </a: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This feedback is continuously compared with the reference voltage from the reference device.</a:t>
            </a: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The difference between the two voltages is amplified as error voltage.</a:t>
            </a: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The transistor then regulates accordingly.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endParaRPr lang="en-ZA" sz="1100" dirty="0">
              <a:solidFill>
                <a:schemeClr val="tx1"/>
              </a:solidFill>
            </a:endParaRPr>
          </a:p>
        </p:txBody>
      </p:sp>
      <p:pic>
        <p:nvPicPr>
          <p:cNvPr id="4" name="Picture 3" descr="A page of a book with a diagram&#10;&#10;Description automatically generated">
            <a:extLst>
              <a:ext uri="{FF2B5EF4-FFF2-40B4-BE49-F238E27FC236}">
                <a16:creationId xmlns:a16="http://schemas.microsoft.com/office/drawing/2014/main" xmlns="" id="{4C26EE5C-9C66-4D2C-A172-FD5AEB088B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10" r="31880"/>
          <a:stretch/>
        </p:blipFill>
        <p:spPr>
          <a:xfrm rot="16200000">
            <a:off x="6958625" y="784713"/>
            <a:ext cx="3907514" cy="562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41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581" y="0"/>
            <a:ext cx="4357499" cy="1320855"/>
          </a:xfrm>
        </p:spPr>
        <p:txBody>
          <a:bodyPr>
            <a:normAutofit/>
          </a:bodyPr>
          <a:lstStyle/>
          <a:p>
            <a:r>
              <a:rPr lang="en-ZA" sz="3100" dirty="0"/>
              <a:t>Operation of an over current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581" y="860108"/>
            <a:ext cx="4363595" cy="57863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Refer to figure 2.16 on page 2.21 or the above figure</a:t>
            </a:r>
          </a:p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This will protect the device against excessive currents which may damage the control element.</a:t>
            </a:r>
          </a:p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An edition of a second transistor and potentiometer achieved.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800" b="1" u="sng" dirty="0">
                <a:solidFill>
                  <a:schemeClr val="tx1"/>
                </a:solidFill>
              </a:rPr>
              <a:t>This is how the protection is achieved</a:t>
            </a:r>
          </a:p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During overload conditions, the increased voltage drop across P2 will switch T2 on to conduct a part of the base current of  T1 and therefore limits the increase in load current to a safe value.</a:t>
            </a:r>
          </a:p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The value at which P2 is set, determines the maximum load current which may flow.</a:t>
            </a:r>
          </a:p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P2 must have low resistance with high power rating.</a:t>
            </a:r>
          </a:p>
        </p:txBody>
      </p:sp>
      <p:pic>
        <p:nvPicPr>
          <p:cNvPr id="4" name="Picture 3" descr="A book with a diagram and text&#10;&#10;Description automatically generated">
            <a:extLst>
              <a:ext uri="{FF2B5EF4-FFF2-40B4-BE49-F238E27FC236}">
                <a16:creationId xmlns:a16="http://schemas.microsoft.com/office/drawing/2014/main" xmlns="" id="{25CA2E72-168C-41A9-96C5-A266CF29D1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5" t="30513" r="28233" b="5214"/>
          <a:stretch/>
        </p:blipFill>
        <p:spPr>
          <a:xfrm rot="16200000">
            <a:off x="6583518" y="1144122"/>
            <a:ext cx="4057251" cy="600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355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774" y="317980"/>
            <a:ext cx="4357499" cy="1320855"/>
          </a:xfrm>
        </p:spPr>
        <p:txBody>
          <a:bodyPr>
            <a:normAutofit/>
          </a:bodyPr>
          <a:lstStyle/>
          <a:p>
            <a:r>
              <a:rPr lang="en-ZA" sz="2800" dirty="0"/>
              <a:t>3.Operation of an over voltage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305340"/>
            <a:ext cx="4363595" cy="52346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Refer to figure 2.17 on page 2.22 or on the above figure.</a:t>
            </a:r>
          </a:p>
          <a:p>
            <a:pPr marL="0" indent="0">
              <a:lnSpc>
                <a:spcPct val="100000"/>
              </a:lnSpc>
              <a:buNone/>
            </a:pPr>
            <a:endParaRPr lang="en-ZA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The value of the diode and R5 determine the maximum allowable output voltage that may appear across the load.</a:t>
            </a:r>
          </a:p>
          <a:p>
            <a:pPr marL="0" indent="0">
              <a:lnSpc>
                <a:spcPct val="100000"/>
              </a:lnSpc>
              <a:buNone/>
            </a:pPr>
            <a:endParaRPr lang="en-ZA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As soon as the maximum allowed voltage is exceeded, the voltage drop across the Zener  will stay constant while that across R5 increases.</a:t>
            </a:r>
          </a:p>
          <a:p>
            <a:pPr marL="0" indent="0">
              <a:lnSpc>
                <a:spcPct val="100000"/>
              </a:lnSpc>
              <a:buNone/>
            </a:pPr>
            <a:endParaRPr lang="en-ZA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This voltage is high enough to trigger the gate of an SCR and it switches on, the output voltage drops to zero.</a:t>
            </a:r>
          </a:p>
          <a:p>
            <a:pPr>
              <a:lnSpc>
                <a:spcPct val="100000"/>
              </a:lnSpc>
            </a:pPr>
            <a:endParaRPr lang="en-ZA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ZA" sz="1300" dirty="0">
              <a:solidFill>
                <a:schemeClr val="tx1"/>
              </a:solidFill>
            </a:endParaRPr>
          </a:p>
        </p:txBody>
      </p:sp>
      <p:pic>
        <p:nvPicPr>
          <p:cNvPr id="4" name="Picture 3" descr="A diagram of electrical wiring&#10;&#10;Description automatically generated">
            <a:extLst>
              <a:ext uri="{FF2B5EF4-FFF2-40B4-BE49-F238E27FC236}">
                <a16:creationId xmlns:a16="http://schemas.microsoft.com/office/drawing/2014/main" xmlns="" id="{DC25FEC4-2D35-435B-8D10-31398CA0DF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8" t="13077" r="33020" b="10342"/>
          <a:stretch/>
        </p:blipFill>
        <p:spPr>
          <a:xfrm rot="16200000">
            <a:off x="7357700" y="853757"/>
            <a:ext cx="2657728" cy="517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7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D50633-43A7-4B1F-8673-E4926344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54529"/>
          </a:xfrm>
        </p:spPr>
        <p:txBody>
          <a:bodyPr/>
          <a:lstStyle/>
          <a:p>
            <a:r>
              <a:rPr lang="en-US" dirty="0"/>
              <a:t>4.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DCF225-478E-4BB6-9010-DAF8016F6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36915"/>
            <a:ext cx="10178322" cy="444267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Exercise 2</a:t>
            </a:r>
          </a:p>
          <a:p>
            <a:r>
              <a:rPr lang="en-US" dirty="0"/>
              <a:t>On page 2.34, do exercise </a:t>
            </a:r>
            <a:r>
              <a:rPr lang="en-US"/>
              <a:t>number 13,14 and </a:t>
            </a:r>
            <a:r>
              <a:rPr lang="en-US" dirty="0"/>
              <a:t>18</a:t>
            </a:r>
          </a:p>
          <a:p>
            <a:r>
              <a:rPr lang="en-US" b="1" dirty="0"/>
              <a:t>Refer to filter notes activities on previous slide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 The above activity will help you understand your notes)</a:t>
            </a:r>
          </a:p>
        </p:txBody>
      </p:sp>
    </p:spTree>
    <p:extLst>
      <p:ext uri="{BB962C8B-B14F-4D97-AF65-F5344CB8AC3E}">
        <p14:creationId xmlns:p14="http://schemas.microsoft.com/office/powerpoint/2010/main" val="3226190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20. ADJUSTABLE POWER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Adjustable power supplies are used for the testing of circuits.</a:t>
            </a:r>
          </a:p>
          <a:p>
            <a:endParaRPr lang="en-ZA" dirty="0"/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They make used of series voltage regulators whose output voltage is in fact adjustable through an addition of a potentiometer and some resistors which form  a potential divider.</a:t>
            </a:r>
          </a:p>
          <a:p>
            <a:endParaRPr lang="en-ZA" dirty="0"/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The output voltage can either higher or lower than the supply voltage.</a:t>
            </a:r>
          </a:p>
        </p:txBody>
      </p:sp>
    </p:spTree>
    <p:extLst>
      <p:ext uri="{BB962C8B-B14F-4D97-AF65-F5344CB8AC3E}">
        <p14:creationId xmlns:p14="http://schemas.microsoft.com/office/powerpoint/2010/main" val="1298405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E0A1EC-C732-4780-B2A9-868CEF77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94872"/>
          </a:xfrm>
        </p:spPr>
        <p:txBody>
          <a:bodyPr/>
          <a:lstStyle/>
          <a:p>
            <a:r>
              <a:rPr lang="en-US" dirty="0"/>
              <a:t>21. Reg with higher voltage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74306C-4535-46CB-BD1D-1D404E40E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94971"/>
            <a:ext cx="10283830" cy="523407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The Regulator with voltage higher than fixed voltage of regulator</a:t>
            </a:r>
          </a:p>
          <a:p>
            <a:pPr marL="0" indent="0" algn="ctr">
              <a:buNone/>
            </a:pPr>
            <a:r>
              <a:rPr lang="en-US" b="1" u="sng" dirty="0"/>
              <a:t> </a:t>
            </a:r>
          </a:p>
          <a:p>
            <a:pPr marL="0" indent="0" algn="ctr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4" r="20484" b="6581"/>
          <a:stretch/>
        </p:blipFill>
        <p:spPr>
          <a:xfrm rot="16200000">
            <a:off x="3170481" y="825863"/>
            <a:ext cx="4818184" cy="698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34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17980"/>
            <a:ext cx="4357499" cy="1320855"/>
          </a:xfrm>
        </p:spPr>
        <p:txBody>
          <a:bodyPr>
            <a:normAutofit/>
          </a:bodyPr>
          <a:lstStyle/>
          <a:p>
            <a:r>
              <a:rPr lang="en-ZA" sz="2800" dirty="0"/>
              <a:t>22.Reg with higher voltage than fixed voltage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45582" y="1657484"/>
                <a:ext cx="4363595" cy="488253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ZA" sz="1800" b="1" dirty="0">
                    <a:solidFill>
                      <a:schemeClr val="tx1"/>
                    </a:solidFill>
                  </a:rPr>
                  <a:t>This regulator is +5V with an adjustable ground reference.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ZA" sz="18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ZA" sz="1800" b="1" dirty="0">
                    <a:solidFill>
                      <a:schemeClr val="tx1"/>
                    </a:solidFill>
                  </a:rPr>
                  <a:t>This produces an output source higher than 5V of the supply.</a:t>
                </a:r>
              </a:p>
              <a:p>
                <a:pPr>
                  <a:lnSpc>
                    <a:spcPct val="100000"/>
                  </a:lnSpc>
                </a:pPr>
                <a:endParaRPr lang="en-ZA" sz="1800" b="1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ZA" sz="18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ZA" sz="1800" b="1" dirty="0">
                    <a:solidFill>
                      <a:schemeClr val="tx1"/>
                    </a:solidFill>
                  </a:rPr>
                  <a:t>The potentiometer adjusts the ground reference of the regulator.</a:t>
                </a:r>
              </a:p>
              <a:p>
                <a:pPr>
                  <a:lnSpc>
                    <a:spcPct val="100000"/>
                  </a:lnSpc>
                </a:pPr>
                <a:endParaRPr lang="en-ZA" sz="1800" b="1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ZA" sz="18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ZA" sz="1800" b="1" dirty="0">
                    <a:solidFill>
                      <a:schemeClr val="tx1"/>
                    </a:solidFill>
                  </a:rPr>
                  <a:t>For example if </a:t>
                </a:r>
                <a14:m>
                  <m:oMath xmlns:m="http://schemas.openxmlformats.org/officeDocument/2006/math"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𝐏</m:t>
                    </m:r>
                    <m:r>
                      <a:rPr lang="en-ZA" sz="1800" b="1" i="0" smtClean="0">
                        <a:solidFill>
                          <a:schemeClr val="tx1"/>
                        </a:solidFill>
                        <a:latin typeface="Cambria Math"/>
                      </a:rPr>
                      <m:t>𝟏𝐕𝐠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=+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𝟕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𝑽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ZA" sz="1800" b="1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𝑽𝒐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𝟕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𝟓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= +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𝟏𝟐</m:t>
                    </m:r>
                    <m:r>
                      <a:rPr lang="en-ZA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ZA" sz="1800" b="1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ZA" sz="1400" b="1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ZA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5582" y="1657484"/>
                <a:ext cx="4363595" cy="4882536"/>
              </a:xfrm>
              <a:blipFill>
                <a:blip r:embed="rId2"/>
                <a:stretch>
                  <a:fillRect l="-838" t="-749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4ACB086-1A76-4877-87A8-7D1F7BB0FC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4" r="20484" b="6581"/>
          <a:stretch/>
        </p:blipFill>
        <p:spPr>
          <a:xfrm rot="16200000">
            <a:off x="6995228" y="760448"/>
            <a:ext cx="3983659" cy="577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26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505954-1040-470B-B820-05CBA2EA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433541"/>
          </a:xfrm>
        </p:spPr>
        <p:txBody>
          <a:bodyPr>
            <a:normAutofit/>
          </a:bodyPr>
          <a:lstStyle/>
          <a:p>
            <a:r>
              <a:rPr lang="en-ZA" sz="2400" dirty="0"/>
              <a:t>23.Reg with voltage lower than 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815927"/>
            <a:ext cx="10178322" cy="5063666"/>
          </a:xfrm>
        </p:spPr>
        <p:txBody>
          <a:bodyPr/>
          <a:lstStyle/>
          <a:p>
            <a:pPr marL="0" indent="0" algn="ctr">
              <a:buNone/>
            </a:pPr>
            <a:r>
              <a:rPr lang="en-ZA" b="1" u="sng" dirty="0"/>
              <a:t>Regulator with voltage lower than fixed voltage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7452" y="1341018"/>
            <a:ext cx="7831015" cy="575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84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D50633-43A7-4B1F-8673-E4926344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54529"/>
          </a:xfrm>
        </p:spPr>
        <p:txBody>
          <a:bodyPr/>
          <a:lstStyle/>
          <a:p>
            <a:r>
              <a:rPr lang="en-US" dirty="0"/>
              <a:t>24.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DCF225-478E-4BB6-9010-DAF8016F6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36915"/>
            <a:ext cx="10178322" cy="444267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Exercise 2</a:t>
            </a:r>
          </a:p>
          <a:p>
            <a:r>
              <a:rPr lang="en-US" dirty="0"/>
              <a:t>Show in a circuit diagram how a 5 V fixed voltage regulator can be used to produce an adjustable output of +7 V to +30 V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 The above activity will help you understand your notes)</a:t>
            </a:r>
          </a:p>
        </p:txBody>
      </p:sp>
    </p:spTree>
    <p:extLst>
      <p:ext uri="{BB962C8B-B14F-4D97-AF65-F5344CB8AC3E}">
        <p14:creationId xmlns:p14="http://schemas.microsoft.com/office/powerpoint/2010/main" val="488049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43030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ZA" sz="3200" b="1" dirty="0"/>
              <a:t>25.Regulator with voltage lower than fixed voltage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8862" y="1336431"/>
            <a:ext cx="10374923" cy="5228492"/>
          </a:xfrm>
        </p:spPr>
        <p:txBody>
          <a:bodyPr/>
          <a:lstStyle/>
          <a:p>
            <a:r>
              <a:rPr lang="en-ZA" dirty="0"/>
              <a:t>Refer to figure below</a:t>
            </a:r>
          </a:p>
          <a:p>
            <a:endParaRPr lang="en-ZA" dirty="0"/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The output voltage will be lower than the input voltage 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r>
              <a:rPr lang="en-ZA" dirty="0"/>
              <a:t>If for example 2V is required at the output, Vg must be adjusted to -3V.</a:t>
            </a:r>
          </a:p>
        </p:txBody>
      </p:sp>
    </p:spTree>
    <p:extLst>
      <p:ext uri="{BB962C8B-B14F-4D97-AF65-F5344CB8AC3E}">
        <p14:creationId xmlns:p14="http://schemas.microsoft.com/office/powerpoint/2010/main" val="3384286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36B925-203C-482C-90FC-F2E33852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00827"/>
          </a:xfrm>
        </p:spPr>
        <p:txBody>
          <a:bodyPr>
            <a:normAutofit/>
          </a:bodyPr>
          <a:lstStyle/>
          <a:p>
            <a:r>
              <a:rPr lang="en-ZA" sz="3600" dirty="0"/>
              <a:t>26.High adjustable reg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858129"/>
            <a:ext cx="10178322" cy="5767754"/>
          </a:xfrm>
        </p:spPr>
        <p:txBody>
          <a:bodyPr/>
          <a:lstStyle/>
          <a:p>
            <a:pPr marL="0" indent="0" algn="ctr">
              <a:buNone/>
            </a:pPr>
            <a:r>
              <a:rPr lang="en-ZA" b="1" u="sng" dirty="0"/>
              <a:t>High adjustable voltage regulator</a:t>
            </a:r>
            <a:endParaRPr lang="en-ZA" dirty="0"/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b="1" u="sng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0" t="2906" r="4487" b="18804"/>
          <a:stretch/>
        </p:blipFill>
        <p:spPr>
          <a:xfrm>
            <a:off x="2366716" y="1371600"/>
            <a:ext cx="7948246" cy="536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25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152736"/>
            <a:ext cx="4357499" cy="1320855"/>
          </a:xfrm>
        </p:spPr>
        <p:txBody>
          <a:bodyPr>
            <a:normAutofit/>
          </a:bodyPr>
          <a:lstStyle/>
          <a:p>
            <a:r>
              <a:rPr lang="en-ZA" sz="2800" dirty="0"/>
              <a:t>Operation of a half wave voltage doubler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582" y="1202788"/>
            <a:ext cx="4363595" cy="550247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ZA" dirty="0">
                <a:solidFill>
                  <a:schemeClr val="tx1"/>
                </a:solidFill>
              </a:rPr>
              <a:t>Consider figure (a) and follow the red line;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During the positive half cycle of the transformer, D1 conducts while D2 is reversed biased.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C1 charges to maximum voltage of  </a:t>
            </a:r>
            <a:r>
              <a:rPr lang="en-ZA" sz="2000" dirty="0" err="1">
                <a:solidFill>
                  <a:schemeClr val="tx1"/>
                </a:solidFill>
              </a:rPr>
              <a:t>Vm</a:t>
            </a:r>
            <a:r>
              <a:rPr lang="en-ZA" sz="2000" dirty="0">
                <a:solidFill>
                  <a:schemeClr val="tx1"/>
                </a:solidFill>
              </a:rPr>
              <a:t> and the voltage across C2 is zero.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During the negative half cycle across the transformer, D2 conducts while D1 is reversed biased.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C1 is prevented from discharging because D1 does not conduct and therefore keeps its charge.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This makes C2 to charge to 2Vm </a:t>
            </a:r>
          </a:p>
          <a:p>
            <a:pPr>
              <a:lnSpc>
                <a:spcPct val="100000"/>
              </a:lnSpc>
            </a:pPr>
            <a:r>
              <a:rPr lang="en-ZA" dirty="0">
                <a:solidFill>
                  <a:schemeClr val="tx1"/>
                </a:solidFill>
              </a:rPr>
              <a:t>Refer to page 2.11 to 2.12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endParaRPr lang="en-ZA" sz="14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7B7E48F-A66A-4373-8953-76E28A4DE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176" y="1473590"/>
            <a:ext cx="6206337" cy="501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8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581" y="133643"/>
            <a:ext cx="4357499" cy="1320855"/>
          </a:xfrm>
        </p:spPr>
        <p:txBody>
          <a:bodyPr>
            <a:normAutofit/>
          </a:bodyPr>
          <a:lstStyle/>
          <a:p>
            <a:r>
              <a:rPr lang="en-ZA" sz="2800" dirty="0"/>
              <a:t>Operation of a full wave voltage doubler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9485" y="978213"/>
            <a:ext cx="4363595" cy="57461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ZA" dirty="0">
                <a:solidFill>
                  <a:schemeClr val="tx1"/>
                </a:solidFill>
              </a:rPr>
              <a:t>Refer to figure 2.8 on page 2.12 or the above figure</a:t>
            </a:r>
          </a:p>
          <a:p>
            <a:pPr>
              <a:lnSpc>
                <a:spcPct val="100000"/>
              </a:lnSpc>
            </a:pPr>
            <a:r>
              <a:rPr lang="en-ZA" b="1" dirty="0">
                <a:solidFill>
                  <a:schemeClr val="tx1"/>
                </a:solidFill>
              </a:rPr>
              <a:t>During the positive half cycle across the transformer</a:t>
            </a:r>
            <a:r>
              <a:rPr lang="en-ZA" dirty="0">
                <a:solidFill>
                  <a:schemeClr val="tx1"/>
                </a:solidFill>
              </a:rPr>
              <a:t>;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D1 conducts and D2 is off.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C1 charges to a voltage of  </a:t>
            </a:r>
            <a:r>
              <a:rPr lang="en-ZA" sz="2000" dirty="0" err="1">
                <a:solidFill>
                  <a:schemeClr val="tx1"/>
                </a:solidFill>
              </a:rPr>
              <a:t>Vm</a:t>
            </a:r>
            <a:endParaRPr lang="en-ZA" sz="2000" dirty="0">
              <a:solidFill>
                <a:schemeClr val="tx1"/>
              </a:solidFill>
            </a:endParaRP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endParaRPr lang="en-ZA" sz="2000" dirty="0">
              <a:solidFill>
                <a:schemeClr val="tx1"/>
              </a:solidFill>
            </a:endParaRPr>
          </a:p>
          <a:p>
            <a:pPr marL="914400" lvl="2" indent="0">
              <a:lnSpc>
                <a:spcPct val="100000"/>
              </a:lnSpc>
              <a:buNone/>
            </a:pPr>
            <a:endParaRPr lang="en-ZA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ZA" b="1" dirty="0">
                <a:solidFill>
                  <a:schemeClr val="tx1"/>
                </a:solidFill>
              </a:rPr>
              <a:t>During the negative half cycle across the transformer;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D2 conducts and D1 is off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C2 charges to a voltage of  </a:t>
            </a:r>
            <a:r>
              <a:rPr lang="en-ZA" sz="2000" dirty="0" err="1">
                <a:solidFill>
                  <a:schemeClr val="tx1"/>
                </a:solidFill>
              </a:rPr>
              <a:t>Vm</a:t>
            </a:r>
            <a:endParaRPr lang="en-ZA" sz="2000" dirty="0">
              <a:solidFill>
                <a:schemeClr val="tx1"/>
              </a:solidFill>
            </a:endParaRP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2000" dirty="0">
                <a:solidFill>
                  <a:schemeClr val="tx1"/>
                </a:solidFill>
              </a:rPr>
              <a:t>The total voltage across both capacitors will be 2Vm.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83E610F-9B0A-44CC-986E-B1D0B006A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282" y="2299068"/>
            <a:ext cx="6105268" cy="297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19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194939"/>
            <a:ext cx="4357499" cy="1320855"/>
          </a:xfrm>
        </p:spPr>
        <p:txBody>
          <a:bodyPr>
            <a:normAutofit/>
          </a:bodyPr>
          <a:lstStyle/>
          <a:p>
            <a:r>
              <a:rPr lang="en-ZA" sz="4400" dirty="0"/>
              <a:t>Operation of a voltage </a:t>
            </a:r>
            <a:r>
              <a:rPr lang="en-ZA" sz="4400" dirty="0" err="1"/>
              <a:t>tripler</a:t>
            </a:r>
            <a:endParaRPr lang="en-Z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582" y="1609287"/>
            <a:ext cx="4363595" cy="50537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ZA" sz="1800" dirty="0">
                <a:solidFill>
                  <a:schemeClr val="tx1"/>
                </a:solidFill>
              </a:rPr>
              <a:t>Refer to figure 2.9 on page 2.13 or on the above figure.</a:t>
            </a:r>
          </a:p>
          <a:p>
            <a:pPr marL="0" indent="0">
              <a:lnSpc>
                <a:spcPct val="100000"/>
              </a:lnSpc>
              <a:buNone/>
            </a:pPr>
            <a:endParaRPr lang="en-ZA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During the positive half cycle;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1800" b="1" dirty="0">
                <a:solidFill>
                  <a:schemeClr val="tx1"/>
                </a:solidFill>
              </a:rPr>
              <a:t>D1 conducts and C1 charge to </a:t>
            </a:r>
            <a:r>
              <a:rPr lang="en-ZA" sz="1800" b="1" dirty="0" err="1">
                <a:solidFill>
                  <a:schemeClr val="tx1"/>
                </a:solidFill>
              </a:rPr>
              <a:t>Vm</a:t>
            </a:r>
            <a:endParaRPr lang="en-ZA" sz="1800" b="1" dirty="0">
              <a:solidFill>
                <a:schemeClr val="tx1"/>
              </a:solidFill>
            </a:endParaRP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endParaRPr lang="en-ZA" sz="1800" dirty="0">
              <a:solidFill>
                <a:schemeClr val="tx1"/>
              </a:solidFill>
            </a:endParaRPr>
          </a:p>
          <a:p>
            <a:pPr marL="914400" lvl="2" indent="0">
              <a:lnSpc>
                <a:spcPct val="100000"/>
              </a:lnSpc>
              <a:buNone/>
            </a:pPr>
            <a:endParaRPr lang="en-ZA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During the negative half cycle;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ZA" sz="1800" b="1" dirty="0">
                <a:solidFill>
                  <a:schemeClr val="tx1"/>
                </a:solidFill>
              </a:rPr>
              <a:t>C2 charges to 2Vm, C3 charges to a voltage of 2Vm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ZA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ZA" sz="1800" b="1" dirty="0">
                <a:solidFill>
                  <a:schemeClr val="tx1"/>
                </a:solidFill>
              </a:rPr>
              <a:t>the total voltage drop across C1 and C2 will be 3 </a:t>
            </a:r>
            <a:r>
              <a:rPr lang="en-ZA" sz="1800" b="1" dirty="0" err="1">
                <a:solidFill>
                  <a:schemeClr val="tx1"/>
                </a:solidFill>
              </a:rPr>
              <a:t>Vm</a:t>
            </a:r>
            <a:endParaRPr lang="en-ZA" sz="18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1052FDE-44C8-4DEA-8F71-F8AF47ED3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075" y="2317125"/>
            <a:ext cx="6218485" cy="304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71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1690-4CAC-40A2-807E-983069A3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94872"/>
          </a:xfrm>
        </p:spPr>
        <p:txBody>
          <a:bodyPr/>
          <a:lstStyle/>
          <a:p>
            <a:r>
              <a:rPr lang="en-US" dirty="0"/>
              <a:t>33.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CDF595-B6F4-4D4B-8E4E-244258189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77257"/>
            <a:ext cx="10178322" cy="460233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Example 01</a:t>
            </a:r>
          </a:p>
          <a:p>
            <a:r>
              <a:rPr lang="en-US" dirty="0"/>
              <a:t>Refer to example 2.1 on page 2.10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Refer to example 2.2 on page 2.17</a:t>
            </a:r>
          </a:p>
          <a:p>
            <a:pPr marL="0" indent="0" algn="ctr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344211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D50633-43A7-4B1F-8673-E4926344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54529"/>
          </a:xfrm>
        </p:spPr>
        <p:txBody>
          <a:bodyPr/>
          <a:lstStyle/>
          <a:p>
            <a:r>
              <a:rPr lang="en-US" dirty="0"/>
              <a:t>34.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DCF225-478E-4BB6-9010-DAF8016F6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36915"/>
            <a:ext cx="10178322" cy="444267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Exercise 2</a:t>
            </a:r>
          </a:p>
          <a:p>
            <a:r>
              <a:rPr lang="en-US" dirty="0"/>
              <a:t>On page 2.34, do exercise number 11,12,13 and 16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 The above activity will help you understand your notes)</a:t>
            </a:r>
          </a:p>
        </p:txBody>
      </p:sp>
    </p:spTree>
    <p:extLst>
      <p:ext uri="{BB962C8B-B14F-4D97-AF65-F5344CB8AC3E}">
        <p14:creationId xmlns:p14="http://schemas.microsoft.com/office/powerpoint/2010/main" val="3711780032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Custom 5">
      <a:dk1>
        <a:sysClr val="windowText" lastClr="000000"/>
      </a:dk1>
      <a:lt1>
        <a:sysClr val="window" lastClr="FFFFFF"/>
      </a:lt1>
      <a:dk2>
        <a:srgbClr val="264457"/>
      </a:dk2>
      <a:lt2>
        <a:srgbClr val="DFE3E5"/>
      </a:lt2>
      <a:accent1>
        <a:srgbClr val="264457"/>
      </a:accent1>
      <a:accent2>
        <a:srgbClr val="264457"/>
      </a:accent2>
      <a:accent3>
        <a:srgbClr val="0D304A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1459</Words>
  <Application>Microsoft Office PowerPoint</Application>
  <PresentationFormat>Custom</PresentationFormat>
  <Paragraphs>201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Badge</vt:lpstr>
      <vt:lpstr>Industrial electronics N5 (8080175)</vt:lpstr>
      <vt:lpstr>Power supplies</vt:lpstr>
      <vt:lpstr>1. Learning outcomes</vt:lpstr>
      <vt:lpstr>2. introduction</vt:lpstr>
      <vt:lpstr>4.Simple capacitor filter  </vt:lpstr>
      <vt:lpstr>5.Rc π filter</vt:lpstr>
      <vt:lpstr>36.Lc π filter</vt:lpstr>
      <vt:lpstr>PowerPoint Presentation</vt:lpstr>
      <vt:lpstr>7.activity</vt:lpstr>
      <vt:lpstr>8. solution</vt:lpstr>
      <vt:lpstr>9. Additional resources</vt:lpstr>
      <vt:lpstr>10. REGULATOR  </vt:lpstr>
      <vt:lpstr>11.The voltage regulator</vt:lpstr>
      <vt:lpstr>PowerPoint Presentation</vt:lpstr>
      <vt:lpstr>15.The block diagram of a series voltage reg</vt:lpstr>
      <vt:lpstr>The elements explained</vt:lpstr>
      <vt:lpstr>PowerPoint Presentation</vt:lpstr>
      <vt:lpstr>18.example</vt:lpstr>
      <vt:lpstr>19. activity</vt:lpstr>
      <vt:lpstr>Basic series voltage regulator</vt:lpstr>
      <vt:lpstr>Series voltage regulator with adjustable ref source</vt:lpstr>
      <vt:lpstr>Operation of a series voltage regulator with amp</vt:lpstr>
      <vt:lpstr>Operation of an over current protection</vt:lpstr>
      <vt:lpstr>3.Operation of an over voltage protection</vt:lpstr>
      <vt:lpstr>4. activity</vt:lpstr>
      <vt:lpstr>20. ADJUSTABLE POWER SUPPLY</vt:lpstr>
      <vt:lpstr>21. Reg with higher voltage</vt:lpstr>
      <vt:lpstr>22.Reg with higher voltage than fixed voltage</vt:lpstr>
      <vt:lpstr>23.Reg with voltage lower than fixed</vt:lpstr>
      <vt:lpstr>24. activity</vt:lpstr>
      <vt:lpstr>25.Regulator with voltage lower than fixed voltage</vt:lpstr>
      <vt:lpstr>26.High adjustable reg</vt:lpstr>
      <vt:lpstr>Operation of a half wave voltage doubler</vt:lpstr>
      <vt:lpstr>Operation of a full wave voltage doubler</vt:lpstr>
      <vt:lpstr>Operation of a voltage tripler</vt:lpstr>
      <vt:lpstr>33. examples</vt:lpstr>
      <vt:lpstr>34. activity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electronics N5 (8080175)</dc:title>
  <dc:creator>HS Mbele</dc:creator>
  <cp:lastModifiedBy>Sizwe Mbele</cp:lastModifiedBy>
  <cp:revision>6</cp:revision>
  <dcterms:created xsi:type="dcterms:W3CDTF">2024-10-01T06:51:40Z</dcterms:created>
  <dcterms:modified xsi:type="dcterms:W3CDTF">2026-03-17T07:07:34Z</dcterms:modified>
</cp:coreProperties>
</file>