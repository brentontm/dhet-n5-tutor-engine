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sldIdLst>
    <p:sldId id="256" r:id="rId2"/>
    <p:sldId id="260" r:id="rId3"/>
    <p:sldId id="257" r:id="rId4"/>
    <p:sldId id="261" r:id="rId5"/>
    <p:sldId id="272" r:id="rId6"/>
    <p:sldId id="265" r:id="rId7"/>
    <p:sldId id="267" r:id="rId8"/>
    <p:sldId id="268" r:id="rId9"/>
    <p:sldId id="273" r:id="rId10"/>
    <p:sldId id="274" r:id="rId11"/>
    <p:sldId id="263" r:id="rId12"/>
    <p:sldId id="276" r:id="rId13"/>
    <p:sldId id="278" r:id="rId14"/>
    <p:sldId id="279" r:id="rId15"/>
    <p:sldId id="280" r:id="rId16"/>
    <p:sldId id="281" r:id="rId17"/>
    <p:sldId id="282" r:id="rId18"/>
    <p:sldId id="283" r:id="rId19"/>
    <p:sldId id="284" r:id="rId20"/>
    <p:sldId id="286" r:id="rId21"/>
    <p:sldId id="287" r:id="rId22"/>
    <p:sldId id="288" r:id="rId23"/>
    <p:sldId id="291" r:id="rId24"/>
    <p:sldId id="29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autoAdjust="0"/>
  </p:normalViewPr>
  <p:slideViewPr>
    <p:cSldViewPr snapToGrid="0">
      <p:cViewPr varScale="1">
        <p:scale>
          <a:sx n="74" d="100"/>
          <a:sy n="74" d="100"/>
        </p:scale>
        <p:origin x="-582" y="-90"/>
      </p:cViewPr>
      <p:guideLst>
        <p:guide orient="horz" pos="2160"/>
        <p:guide pos="3840"/>
      </p:guideLst>
    </p:cSldViewPr>
  </p:slideViewPr>
  <p:outlineViewPr>
    <p:cViewPr>
      <p:scale>
        <a:sx n="33" d="100"/>
        <a:sy n="33" d="100"/>
      </p:scale>
      <p:origin x="0" y="1270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4/21/2026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86336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pPr/>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3456545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4/21/2026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p:cNvGrpSpPr/>
          <p:nvPr/>
        </p:nvGrpSpPr>
        <p:grpSpPr>
          <a:xfrm>
            <a:off x="0" y="0"/>
            <a:ext cx="2814638" cy="6858000"/>
            <a:chOff x="0" y="0"/>
            <a:chExt cx="2814638" cy="6858000"/>
          </a:xfrm>
        </p:grpSpPr>
        <p:sp>
          <p:nvSpPr>
            <p:cNvPr id="11" name="Freeform 6"/>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382436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pPr/>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2760861740"/>
      </p:ext>
    </p:extLst>
  </p:cSld>
  <p:clrMapOvr>
    <a:masterClrMapping/>
  </p:clrMapOvr>
  <p:extLst>
    <p:ext uri="{DCECCB84-F9BA-43D5-87BE-67443E8EF086}">
      <p15:sldGuideLst xmlns:p15="http://schemas.microsoft.com/office/powerpoint/2012/main" xmlns=""/>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pPr/>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2351199223"/>
      </p:ext>
    </p:extLst>
  </p:cSld>
  <p:clrMapOvr>
    <a:masterClrMapping/>
  </p:clrMapOvr>
  <p:extLst>
    <p:ext uri="{DCECCB84-F9BA-43D5-87BE-67443E8EF086}">
      <p15:sldGuideLst xmlns:p15="http://schemas.microsoft.com/office/powerpoint/2012/main" xmlns=""/>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pPr/>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278676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pPr/>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1554945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7" name="Freeform 11"/>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pPr/>
              <a:t>4/21/2026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pPr/>
              <a:t>‹#›</a:t>
            </a:fld>
            <a:endParaRPr lang="en-US" dirty="0"/>
          </a:p>
        </p:txBody>
      </p:sp>
      <p:sp>
        <p:nvSpPr>
          <p:cNvPr id="8" name="Rectangle 7"/>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80007481"/>
      </p:ext>
    </p:extLst>
  </p:cSld>
  <p:clrMapOvr>
    <a:masterClrMapping/>
  </p:clrMapOvr>
  <p:extLst>
    <p:ext uri="{DCECCB84-F9BA-43D5-87BE-67443E8EF086}">
      <p15:sldGuideLst xmlns:p15="http://schemas.microsoft.com/office/powerpoint/2012/main" xmlns="">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pPr/>
              <a:t>4/21/2026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1691331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pPr/>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2897639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pPr/>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419847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9000"/>
            <a:lum/>
          </a:blip>
          <a:srcRect/>
          <a:stretch>
            <a:fillRect l="86000" t="80000" r="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4/21/2026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2194641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CFE2DE-F527-411E-9057-2CC4C95BC3C9}"/>
              </a:ext>
            </a:extLst>
          </p:cNvPr>
          <p:cNvSpPr>
            <a:spLocks noGrp="1"/>
          </p:cNvSpPr>
          <p:nvPr>
            <p:ph type="ctrTitle"/>
          </p:nvPr>
        </p:nvSpPr>
        <p:spPr/>
        <p:txBody>
          <a:bodyPr/>
          <a:lstStyle/>
          <a:p>
            <a:r>
              <a:rPr lang="en-US" sz="7200" dirty="0">
                <a:solidFill>
                  <a:srgbClr val="CC3300"/>
                </a:solidFill>
              </a:rPr>
              <a:t>Industrial electronics N5</a:t>
            </a:r>
            <a:br>
              <a:rPr lang="en-US" sz="7200" dirty="0">
                <a:solidFill>
                  <a:srgbClr val="CC3300"/>
                </a:solidFill>
              </a:rPr>
            </a:br>
            <a:r>
              <a:rPr lang="en-US" sz="7200" dirty="0">
                <a:solidFill>
                  <a:srgbClr val="CC3300"/>
                </a:solidFill>
              </a:rPr>
              <a:t>(8080175)</a:t>
            </a:r>
          </a:p>
        </p:txBody>
      </p:sp>
      <p:sp>
        <p:nvSpPr>
          <p:cNvPr id="3" name="Subtitle 2">
            <a:extLst>
              <a:ext uri="{FF2B5EF4-FFF2-40B4-BE49-F238E27FC236}">
                <a16:creationId xmlns:a16="http://schemas.microsoft.com/office/drawing/2014/main" xmlns="" id="{8510F68A-E8DF-464F-9E99-FFD3131CCD52}"/>
              </a:ext>
            </a:extLst>
          </p:cNvPr>
          <p:cNvSpPr>
            <a:spLocks noGrp="1"/>
          </p:cNvSpPr>
          <p:nvPr>
            <p:ph type="subTitle" idx="1"/>
          </p:nvPr>
        </p:nvSpPr>
        <p:spPr>
          <a:xfrm>
            <a:off x="1078523" y="5993710"/>
            <a:ext cx="9647534" cy="742279"/>
          </a:xfrm>
        </p:spPr>
        <p:txBody>
          <a:bodyPr>
            <a:normAutofit fontScale="85000" lnSpcReduction="10000"/>
          </a:bodyPr>
          <a:lstStyle/>
          <a:p>
            <a:pPr algn="l"/>
            <a:r>
              <a:rPr lang="en-US" dirty="0" err="1">
                <a:solidFill>
                  <a:schemeClr val="bg2">
                    <a:lumMod val="50000"/>
                  </a:schemeClr>
                </a:solidFill>
              </a:rPr>
              <a:t>Programme</a:t>
            </a:r>
            <a:r>
              <a:rPr lang="en-US" dirty="0">
                <a:solidFill>
                  <a:schemeClr val="bg2">
                    <a:lumMod val="50000"/>
                  </a:schemeClr>
                </a:solidFill>
              </a:rPr>
              <a:t>(s):Electrical engineering all groups</a:t>
            </a:r>
          </a:p>
          <a:p>
            <a:pPr algn="l"/>
            <a:r>
              <a:rPr lang="en-US" dirty="0">
                <a:solidFill>
                  <a:schemeClr val="bg2">
                    <a:lumMod val="50000"/>
                  </a:schemeClr>
                </a:solidFill>
              </a:rPr>
              <a:t>Lecturer(s): </a:t>
            </a:r>
            <a:r>
              <a:rPr lang="en-US" dirty="0" err="1">
                <a:solidFill>
                  <a:schemeClr val="bg2">
                    <a:lumMod val="50000"/>
                  </a:schemeClr>
                </a:solidFill>
              </a:rPr>
              <a:t>Mr</a:t>
            </a:r>
            <a:r>
              <a:rPr lang="en-US" dirty="0">
                <a:solidFill>
                  <a:schemeClr val="bg2">
                    <a:lumMod val="50000"/>
                  </a:schemeClr>
                </a:solidFill>
              </a:rPr>
              <a:t> </a:t>
            </a:r>
            <a:r>
              <a:rPr lang="en-US" dirty="0" err="1">
                <a:solidFill>
                  <a:schemeClr val="bg2">
                    <a:lumMod val="50000"/>
                  </a:schemeClr>
                </a:solidFill>
              </a:rPr>
              <a:t>hs</a:t>
            </a:r>
            <a:r>
              <a:rPr lang="en-US" dirty="0">
                <a:solidFill>
                  <a:schemeClr val="bg2">
                    <a:lumMod val="50000"/>
                  </a:schemeClr>
                </a:solidFill>
              </a:rPr>
              <a:t> </a:t>
            </a:r>
            <a:r>
              <a:rPr lang="en-US">
                <a:solidFill>
                  <a:schemeClr val="bg2">
                    <a:lumMod val="50000"/>
                  </a:schemeClr>
                </a:solidFill>
              </a:rPr>
              <a:t>mbele</a:t>
            </a:r>
            <a:endParaRPr lang="en-US" dirty="0">
              <a:solidFill>
                <a:schemeClr val="bg2">
                  <a:lumMod val="50000"/>
                </a:schemeClr>
              </a:solidFill>
            </a:endParaRPr>
          </a:p>
          <a:p>
            <a:pPr algn="l"/>
            <a:endParaRPr lang="en-US" dirty="0">
              <a:solidFill>
                <a:schemeClr val="bg2">
                  <a:lumMod val="50000"/>
                </a:schemeClr>
              </a:solidFill>
            </a:endParaRPr>
          </a:p>
        </p:txBody>
      </p:sp>
    </p:spTree>
    <p:extLst>
      <p:ext uri="{BB962C8B-B14F-4D97-AF65-F5344CB8AC3E}">
        <p14:creationId xmlns:p14="http://schemas.microsoft.com/office/powerpoint/2010/main" val="4132743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B1B49167-9745-4908-B830-CE256BB9BDA7}"/>
              </a:ext>
            </a:extLst>
          </p:cNvPr>
          <p:cNvSpPr>
            <a:spLocks noGrp="1"/>
          </p:cNvSpPr>
          <p:nvPr>
            <p:ph type="ctrTitle"/>
          </p:nvPr>
        </p:nvSpPr>
        <p:spPr>
          <a:xfrm>
            <a:off x="1078522" y="1231506"/>
            <a:ext cx="10318418" cy="4394988"/>
          </a:xfrm>
        </p:spPr>
        <p:txBody>
          <a:bodyPr/>
          <a:lstStyle/>
          <a:p>
            <a:r>
              <a:rPr lang="en-US" sz="9600" dirty="0">
                <a:solidFill>
                  <a:srgbClr val="CC6600"/>
                </a:solidFill>
              </a:rPr>
              <a:t>Transistor amps</a:t>
            </a:r>
            <a:endParaRPr lang="en-US" dirty="0">
              <a:solidFill>
                <a:srgbClr val="CC6600"/>
              </a:solidFill>
            </a:endParaRPr>
          </a:p>
        </p:txBody>
      </p:sp>
      <p:sp>
        <p:nvSpPr>
          <p:cNvPr id="5" name="Subtitle 4">
            <a:extLst>
              <a:ext uri="{FF2B5EF4-FFF2-40B4-BE49-F238E27FC236}">
                <a16:creationId xmlns:a16="http://schemas.microsoft.com/office/drawing/2014/main" xmlns="" id="{5F6E615B-778C-4B6B-B641-A698FCD912AC}"/>
              </a:ext>
            </a:extLst>
          </p:cNvPr>
          <p:cNvSpPr>
            <a:spLocks noGrp="1"/>
          </p:cNvSpPr>
          <p:nvPr>
            <p:ph type="subTitle" idx="1"/>
          </p:nvPr>
        </p:nvSpPr>
        <p:spPr>
          <a:xfrm>
            <a:off x="2215044" y="0"/>
            <a:ext cx="8045373" cy="961863"/>
          </a:xfrm>
        </p:spPr>
        <p:txBody>
          <a:bodyPr>
            <a:normAutofit/>
          </a:bodyPr>
          <a:lstStyle/>
          <a:p>
            <a:r>
              <a:rPr lang="en-US" sz="5400" dirty="0">
                <a:solidFill>
                  <a:srgbClr val="CC6600"/>
                </a:solidFill>
              </a:rPr>
              <a:t>Chapter 03 </a:t>
            </a:r>
          </a:p>
        </p:txBody>
      </p:sp>
    </p:spTree>
    <p:extLst>
      <p:ext uri="{BB962C8B-B14F-4D97-AF65-F5344CB8AC3E}">
        <p14:creationId xmlns:p14="http://schemas.microsoft.com/office/powerpoint/2010/main" val="3627961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0F1FFD-1DE0-48E1-BD00-6E5ED8038262}"/>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xmlns="" id="{986053C5-5055-4394-A214-B4BFFD0D93F0}"/>
              </a:ext>
            </a:extLst>
          </p:cNvPr>
          <p:cNvSpPr>
            <a:spLocks noGrp="1"/>
          </p:cNvSpPr>
          <p:nvPr>
            <p:ph idx="1"/>
          </p:nvPr>
        </p:nvSpPr>
        <p:spPr>
          <a:xfrm>
            <a:off x="1251678" y="1357745"/>
            <a:ext cx="10178322" cy="5223164"/>
          </a:xfrm>
        </p:spPr>
        <p:txBody>
          <a:bodyPr>
            <a:noAutofit/>
          </a:bodyPr>
          <a:lstStyle/>
          <a:p>
            <a:pPr marL="514350" indent="-514350">
              <a:buFont typeface="+mj-lt"/>
              <a:buAutoNum type="arabicPeriod"/>
            </a:pPr>
            <a:r>
              <a:rPr lang="en-US" sz="3200" dirty="0">
                <a:solidFill>
                  <a:schemeClr val="tx2"/>
                </a:solidFill>
              </a:rPr>
              <a:t>Learning outcomes</a:t>
            </a:r>
          </a:p>
          <a:p>
            <a:pPr marL="514350" indent="-514350">
              <a:buFont typeface="+mj-lt"/>
              <a:buAutoNum type="arabicPeriod"/>
            </a:pPr>
            <a:r>
              <a:rPr lang="en-US" sz="3200" dirty="0">
                <a:solidFill>
                  <a:schemeClr val="tx2"/>
                </a:solidFill>
              </a:rPr>
              <a:t>Introduction </a:t>
            </a:r>
          </a:p>
          <a:p>
            <a:pPr marL="514350" indent="-514350">
              <a:buFont typeface="+mj-lt"/>
              <a:buAutoNum type="arabicPeriod"/>
            </a:pPr>
            <a:r>
              <a:rPr lang="en-US" sz="3200" dirty="0">
                <a:solidFill>
                  <a:schemeClr val="tx2"/>
                </a:solidFill>
              </a:rPr>
              <a:t>Content </a:t>
            </a:r>
          </a:p>
          <a:p>
            <a:pPr marL="971550" lvl="1" indent="-514350">
              <a:buFont typeface="+mj-lt"/>
              <a:buAutoNum type="alphaLcParenR"/>
            </a:pPr>
            <a:r>
              <a:rPr lang="en-US" sz="2800" dirty="0">
                <a:solidFill>
                  <a:schemeClr val="tx2"/>
                </a:solidFill>
              </a:rPr>
              <a:t>Concept</a:t>
            </a:r>
          </a:p>
          <a:p>
            <a:pPr marL="971550" lvl="1" indent="-514350">
              <a:buFont typeface="+mj-lt"/>
              <a:buAutoNum type="alphaLcParenR"/>
            </a:pPr>
            <a:r>
              <a:rPr lang="en-US" sz="2800" dirty="0">
                <a:solidFill>
                  <a:schemeClr val="tx2"/>
                </a:solidFill>
              </a:rPr>
              <a:t>Examples </a:t>
            </a:r>
          </a:p>
          <a:p>
            <a:pPr marL="514350" indent="-514350">
              <a:buFont typeface="+mj-lt"/>
              <a:buAutoNum type="arabicPeriod"/>
            </a:pPr>
            <a:r>
              <a:rPr lang="en-US" sz="3200" dirty="0">
                <a:solidFill>
                  <a:schemeClr val="tx2"/>
                </a:solidFill>
              </a:rPr>
              <a:t>Activity</a:t>
            </a:r>
          </a:p>
          <a:p>
            <a:pPr marL="514350" indent="-514350">
              <a:buFont typeface="+mj-lt"/>
              <a:buAutoNum type="arabicPeriod"/>
            </a:pPr>
            <a:r>
              <a:rPr lang="en-US" sz="3200" dirty="0">
                <a:solidFill>
                  <a:schemeClr val="tx2"/>
                </a:solidFill>
              </a:rPr>
              <a:t>Additional Resources </a:t>
            </a:r>
          </a:p>
        </p:txBody>
      </p:sp>
    </p:spTree>
    <p:extLst>
      <p:ext uri="{BB962C8B-B14F-4D97-AF65-F5344CB8AC3E}">
        <p14:creationId xmlns:p14="http://schemas.microsoft.com/office/powerpoint/2010/main" val="3088631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0007D6-06A7-4320-9B53-194478D9C294}"/>
              </a:ext>
            </a:extLst>
          </p:cNvPr>
          <p:cNvSpPr>
            <a:spLocks noGrp="1"/>
          </p:cNvSpPr>
          <p:nvPr>
            <p:ph type="title"/>
          </p:nvPr>
        </p:nvSpPr>
        <p:spPr/>
        <p:txBody>
          <a:bodyPr/>
          <a:lstStyle/>
          <a:p>
            <a:r>
              <a:rPr lang="en-US" dirty="0"/>
              <a:t>1. Learning outcomes</a:t>
            </a:r>
          </a:p>
        </p:txBody>
      </p:sp>
      <p:sp>
        <p:nvSpPr>
          <p:cNvPr id="3" name="Content Placeholder 2">
            <a:extLst>
              <a:ext uri="{FF2B5EF4-FFF2-40B4-BE49-F238E27FC236}">
                <a16:creationId xmlns:a16="http://schemas.microsoft.com/office/drawing/2014/main" xmlns="" id="{C5F44F7A-195E-4FA7-B4E1-1979CB64FC6D}"/>
              </a:ext>
            </a:extLst>
          </p:cNvPr>
          <p:cNvSpPr>
            <a:spLocks noGrp="1"/>
          </p:cNvSpPr>
          <p:nvPr>
            <p:ph idx="1"/>
          </p:nvPr>
        </p:nvSpPr>
        <p:spPr>
          <a:xfrm>
            <a:off x="1251678" y="1371600"/>
            <a:ext cx="10178322" cy="4932217"/>
          </a:xfrm>
        </p:spPr>
        <p:txBody>
          <a:bodyPr>
            <a:normAutofit/>
          </a:bodyPr>
          <a:lstStyle/>
          <a:p>
            <a:pPr algn="just"/>
            <a:r>
              <a:rPr lang="en-US" dirty="0"/>
              <a:t>Be able to briefly describe with the aid of a diagram the following:</a:t>
            </a:r>
          </a:p>
          <a:p>
            <a:pPr marL="0" indent="0" algn="just">
              <a:buNone/>
            </a:pPr>
            <a:endParaRPr lang="en-US" dirty="0"/>
          </a:p>
          <a:p>
            <a:pPr lvl="1" algn="just">
              <a:buFont typeface="Wingdings" panose="05000000000000000000" pitchFamily="2" charset="2"/>
              <a:buChar char="Ø"/>
            </a:pPr>
            <a:r>
              <a:rPr lang="en-US" dirty="0"/>
              <a:t>The BJT </a:t>
            </a:r>
          </a:p>
          <a:p>
            <a:pPr lvl="1" algn="just">
              <a:buFont typeface="Wingdings" panose="05000000000000000000" pitchFamily="2" charset="2"/>
              <a:buChar char="Ø"/>
            </a:pPr>
            <a:endParaRPr lang="en-US" dirty="0"/>
          </a:p>
          <a:p>
            <a:pPr marL="457200" lvl="1" indent="0" algn="just">
              <a:buNone/>
            </a:pPr>
            <a:endParaRPr lang="en-US" dirty="0"/>
          </a:p>
          <a:p>
            <a:pPr lvl="1" algn="just">
              <a:buFont typeface="Wingdings" panose="05000000000000000000" pitchFamily="2" charset="2"/>
              <a:buChar char="Ø"/>
            </a:pPr>
            <a:r>
              <a:rPr lang="en-US" dirty="0"/>
              <a:t>Fixed bias amplifier</a:t>
            </a:r>
          </a:p>
          <a:p>
            <a:pPr lvl="1" algn="just">
              <a:buFont typeface="Wingdings" panose="05000000000000000000" pitchFamily="2" charset="2"/>
              <a:buChar char="Ø"/>
            </a:pPr>
            <a:endParaRPr lang="en-US" dirty="0"/>
          </a:p>
          <a:p>
            <a:pPr marL="457200" lvl="1" indent="0" algn="just">
              <a:buNone/>
            </a:pPr>
            <a:endParaRPr lang="en-US" dirty="0"/>
          </a:p>
          <a:p>
            <a:pPr lvl="1" algn="just">
              <a:buFont typeface="Wingdings" panose="05000000000000000000" pitchFamily="2" charset="2"/>
              <a:buChar char="Ø"/>
            </a:pPr>
            <a:r>
              <a:rPr lang="en-US" dirty="0"/>
              <a:t>Stabilization of a fixed bias amplifier</a:t>
            </a:r>
          </a:p>
          <a:p>
            <a:pPr marL="457200" lvl="1" indent="0" algn="just">
              <a:buNone/>
            </a:pPr>
            <a:endParaRPr lang="en-US" dirty="0"/>
          </a:p>
        </p:txBody>
      </p:sp>
    </p:spTree>
    <p:extLst>
      <p:ext uri="{BB962C8B-B14F-4D97-AF65-F5344CB8AC3E}">
        <p14:creationId xmlns:p14="http://schemas.microsoft.com/office/powerpoint/2010/main" val="277044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684415"/>
          </a:xfrm>
        </p:spPr>
        <p:txBody>
          <a:bodyPr>
            <a:normAutofit fontScale="90000"/>
          </a:bodyPr>
          <a:lstStyle/>
          <a:p>
            <a:r>
              <a:rPr lang="en-ZA" dirty="0"/>
              <a:t>2. introduction</a:t>
            </a:r>
          </a:p>
        </p:txBody>
      </p:sp>
      <p:sp>
        <p:nvSpPr>
          <p:cNvPr id="3" name="Content Placeholder 2"/>
          <p:cNvSpPr>
            <a:spLocks noGrp="1"/>
          </p:cNvSpPr>
          <p:nvPr>
            <p:ph idx="1"/>
          </p:nvPr>
        </p:nvSpPr>
        <p:spPr>
          <a:xfrm>
            <a:off x="1251678" y="1301263"/>
            <a:ext cx="10178322" cy="4578330"/>
          </a:xfrm>
        </p:spPr>
        <p:txBody>
          <a:bodyPr/>
          <a:lstStyle/>
          <a:p>
            <a:r>
              <a:rPr lang="en-ZA" dirty="0"/>
              <a:t>A bipolar junction transistor is a semiconductor device with two junctions and 3 terminals</a:t>
            </a:r>
          </a:p>
          <a:p>
            <a:r>
              <a:rPr lang="en-ZA" dirty="0"/>
              <a:t>The structure of the BJT will determine its operation</a:t>
            </a:r>
          </a:p>
          <a:p>
            <a:r>
              <a:rPr lang="en-ZA" dirty="0"/>
              <a:t>There are two types; NPN and PNP</a:t>
            </a:r>
          </a:p>
          <a:p>
            <a:r>
              <a:rPr lang="en-ZA" dirty="0"/>
              <a:t>Constructed with 3 semiconductor regions separated by 2 PN junctions</a:t>
            </a:r>
          </a:p>
          <a:p>
            <a:r>
              <a:rPr lang="en-ZA" dirty="0"/>
              <a:t>The 3 semiconductor regions are; emitter, base and collector</a:t>
            </a:r>
          </a:p>
          <a:p>
            <a:r>
              <a:rPr lang="en-ZA" dirty="0"/>
              <a:t>The term bipolar refers to the use of both holes and electrons as current carriers in the transistor structure</a:t>
            </a:r>
          </a:p>
          <a:p>
            <a:r>
              <a:rPr lang="en-ZA" dirty="0"/>
              <a:t>The PN junction joining the base and emitter is called </a:t>
            </a:r>
            <a:r>
              <a:rPr lang="en-ZA" dirty="0">
                <a:solidFill>
                  <a:srgbClr val="FF0000"/>
                </a:solidFill>
              </a:rPr>
              <a:t>base – emitter junction </a:t>
            </a:r>
          </a:p>
          <a:p>
            <a:r>
              <a:rPr lang="en-ZA" dirty="0"/>
              <a:t>The PN junction joining the base and collector is called </a:t>
            </a:r>
            <a:r>
              <a:rPr lang="en-ZA" dirty="0">
                <a:solidFill>
                  <a:srgbClr val="FF0000"/>
                </a:solidFill>
              </a:rPr>
              <a:t>base collector junction</a:t>
            </a:r>
          </a:p>
          <a:p>
            <a:r>
              <a:rPr lang="en-ZA" dirty="0"/>
              <a:t>The base is lightly doped and very thin compared to the heavily doped emitter and moderately doped collector region.</a:t>
            </a:r>
          </a:p>
          <a:p>
            <a:endParaRPr lang="en-ZA" dirty="0">
              <a:solidFill>
                <a:schemeClr val="tx1"/>
              </a:solidFill>
            </a:endParaRPr>
          </a:p>
          <a:p>
            <a:endParaRPr lang="en-ZA" dirty="0"/>
          </a:p>
        </p:txBody>
      </p:sp>
    </p:spTree>
    <p:extLst>
      <p:ext uri="{BB962C8B-B14F-4D97-AF65-F5344CB8AC3E}">
        <p14:creationId xmlns:p14="http://schemas.microsoft.com/office/powerpoint/2010/main" val="1298405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E0A1EC-C732-4780-B2A9-868CEF7773AC}"/>
              </a:ext>
            </a:extLst>
          </p:cNvPr>
          <p:cNvSpPr>
            <a:spLocks noGrp="1"/>
          </p:cNvSpPr>
          <p:nvPr>
            <p:ph type="title"/>
          </p:nvPr>
        </p:nvSpPr>
        <p:spPr>
          <a:xfrm>
            <a:off x="1251678" y="382385"/>
            <a:ext cx="10178322" cy="894872"/>
          </a:xfrm>
        </p:spPr>
        <p:txBody>
          <a:bodyPr/>
          <a:lstStyle/>
          <a:p>
            <a:r>
              <a:rPr lang="en-US" dirty="0"/>
              <a:t>3. transistor</a:t>
            </a:r>
          </a:p>
        </p:txBody>
      </p:sp>
      <p:sp>
        <p:nvSpPr>
          <p:cNvPr id="3" name="Content Placeholder 2">
            <a:extLst>
              <a:ext uri="{FF2B5EF4-FFF2-40B4-BE49-F238E27FC236}">
                <a16:creationId xmlns:a16="http://schemas.microsoft.com/office/drawing/2014/main" xmlns="" id="{5874306C-4535-46CB-BD1D-1D404E40E18A}"/>
              </a:ext>
            </a:extLst>
          </p:cNvPr>
          <p:cNvSpPr>
            <a:spLocks noGrp="1"/>
          </p:cNvSpPr>
          <p:nvPr>
            <p:ph idx="1"/>
          </p:nvPr>
        </p:nvSpPr>
        <p:spPr>
          <a:xfrm>
            <a:off x="1251678" y="1494971"/>
            <a:ext cx="10283830" cy="5234075"/>
          </a:xfrm>
        </p:spPr>
        <p:txBody>
          <a:bodyPr/>
          <a:lstStyle/>
          <a:p>
            <a:pPr marL="0" indent="0" algn="ctr">
              <a:buNone/>
            </a:pPr>
            <a:r>
              <a:rPr lang="en-US" b="1" u="sng" dirty="0"/>
              <a:t>The BJT</a:t>
            </a:r>
          </a:p>
          <a:p>
            <a:pPr marL="0" indent="0"/>
            <a:r>
              <a:rPr lang="en-US" dirty="0"/>
              <a:t>The device has 3 terminals, base, collector and emitter.</a:t>
            </a:r>
          </a:p>
          <a:p>
            <a:pPr marL="0" indent="0"/>
            <a:r>
              <a:rPr lang="en-US" dirty="0"/>
              <a:t>The base is also called the control electrode.</a:t>
            </a:r>
          </a:p>
          <a:p>
            <a:pPr marL="0" indent="0"/>
            <a:r>
              <a:rPr lang="en-US" dirty="0"/>
              <a:t>It has 2 PN junctions, 3 junction voltages namely; </a:t>
            </a:r>
            <a:r>
              <a:rPr lang="en-US" dirty="0" err="1"/>
              <a:t>Vbe</a:t>
            </a:r>
            <a:r>
              <a:rPr lang="en-US" dirty="0"/>
              <a:t>, </a:t>
            </a:r>
            <a:r>
              <a:rPr lang="en-US" dirty="0" err="1"/>
              <a:t>Vbc,Vce</a:t>
            </a:r>
            <a:endParaRPr lang="en-US" dirty="0"/>
          </a:p>
          <a:p>
            <a:pPr marL="0" indent="0"/>
            <a:r>
              <a:rPr lang="en-US" dirty="0"/>
              <a:t>It also has 3 terminal currents, base current, emitter current and the collector current</a:t>
            </a:r>
          </a:p>
          <a:p>
            <a:pPr marL="0" indent="0"/>
            <a:endParaRPr lang="en-US" dirty="0"/>
          </a:p>
          <a:p>
            <a:pPr marL="0" indent="0" algn="ctr">
              <a:buNone/>
            </a:pPr>
            <a:r>
              <a:rPr lang="en-US" b="1" u="sng" dirty="0"/>
              <a:t> </a:t>
            </a:r>
          </a:p>
          <a:p>
            <a:pPr marL="0" indent="0" algn="ctr">
              <a:buNone/>
            </a:pPr>
            <a:endParaRPr lang="en-US" b="1" u="sng" dirty="0"/>
          </a:p>
          <a:p>
            <a:pPr marL="0" indent="0">
              <a:buNone/>
            </a:pPr>
            <a:endParaRPr lang="en-US" b="1" u="sng" dirty="0"/>
          </a:p>
        </p:txBody>
      </p:sp>
      <p:pic>
        <p:nvPicPr>
          <p:cNvPr id="5" name="Picture 4" descr="tran61.gif"/>
          <p:cNvPicPr>
            <a:picLocks noChangeAspect="1"/>
          </p:cNvPicPr>
          <p:nvPr/>
        </p:nvPicPr>
        <p:blipFill>
          <a:blip r:embed="rId2"/>
          <a:stretch>
            <a:fillRect/>
          </a:stretch>
        </p:blipFill>
        <p:spPr>
          <a:xfrm>
            <a:off x="2754923" y="3623897"/>
            <a:ext cx="6353907" cy="3009900"/>
          </a:xfrm>
          <a:prstGeom prst="rect">
            <a:avLst/>
          </a:prstGeom>
        </p:spPr>
      </p:pic>
    </p:spTree>
    <p:extLst>
      <p:ext uri="{BB962C8B-B14F-4D97-AF65-F5344CB8AC3E}">
        <p14:creationId xmlns:p14="http://schemas.microsoft.com/office/powerpoint/2010/main" val="736617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637523"/>
          </a:xfrm>
        </p:spPr>
        <p:txBody>
          <a:bodyPr>
            <a:normAutofit/>
          </a:bodyPr>
          <a:lstStyle/>
          <a:p>
            <a:r>
              <a:rPr lang="en-ZA" sz="3600" dirty="0"/>
              <a:t>3.The fixed bias amp</a:t>
            </a:r>
          </a:p>
        </p:txBody>
      </p:sp>
      <p:sp>
        <p:nvSpPr>
          <p:cNvPr id="6" name="Content Placeholder 5"/>
          <p:cNvSpPr>
            <a:spLocks noGrp="1"/>
          </p:cNvSpPr>
          <p:nvPr>
            <p:ph idx="1"/>
          </p:nvPr>
        </p:nvSpPr>
        <p:spPr>
          <a:xfrm>
            <a:off x="1251678" y="1113693"/>
            <a:ext cx="10178322" cy="5603630"/>
          </a:xfrm>
        </p:spPr>
        <p:txBody>
          <a:bodyPr/>
          <a:lstStyle/>
          <a:p>
            <a:r>
              <a:rPr lang="en-US" dirty="0"/>
              <a:t>This circuit can be used as an amplifier only if the base emitter junction is forward biased and the base collector junction is reversed biased.</a:t>
            </a:r>
          </a:p>
          <a:p>
            <a:r>
              <a:rPr lang="en-US" dirty="0"/>
              <a:t>The problem with this amp is that it tends to be saturated, this a condition where the amplifier does no longer amplifies.</a:t>
            </a:r>
          </a:p>
          <a:p>
            <a:r>
              <a:rPr lang="en-US" dirty="0"/>
              <a:t>To ensure that the transistor works as a linear amplifier,  the base collector junction must be reversed biased thoroughly. </a:t>
            </a:r>
          </a:p>
          <a:p>
            <a:r>
              <a:rPr lang="en-US" dirty="0"/>
              <a:t>The base and collector resistors must be calculated in such a way that the transistor never enters the saturated region, this means that, </a:t>
            </a:r>
            <a:r>
              <a:rPr lang="en-US" dirty="0" err="1"/>
              <a:t>Vce</a:t>
            </a:r>
            <a:r>
              <a:rPr lang="en-US" dirty="0"/>
              <a:t> must always be greater than </a:t>
            </a:r>
            <a:r>
              <a:rPr lang="en-US" dirty="0" err="1"/>
              <a:t>Vbe</a:t>
            </a:r>
            <a:r>
              <a:rPr lang="en-US" dirty="0"/>
              <a:t>.</a:t>
            </a:r>
          </a:p>
          <a:p>
            <a:r>
              <a:rPr lang="en-US" dirty="0"/>
              <a:t>The bias of this circuit is dependant on the current gain.</a:t>
            </a:r>
          </a:p>
          <a:p>
            <a:endParaRPr lang="en-US" dirty="0"/>
          </a:p>
        </p:txBody>
      </p:sp>
      <p:pic>
        <p:nvPicPr>
          <p:cNvPr id="7" name="Picture 6" descr="download.png"/>
          <p:cNvPicPr>
            <a:picLocks noChangeAspect="1"/>
          </p:cNvPicPr>
          <p:nvPr/>
        </p:nvPicPr>
        <p:blipFill>
          <a:blip r:embed="rId2"/>
          <a:stretch>
            <a:fillRect/>
          </a:stretch>
        </p:blipFill>
        <p:spPr>
          <a:xfrm>
            <a:off x="3141786" y="4602943"/>
            <a:ext cx="5263660" cy="2024625"/>
          </a:xfrm>
          <a:prstGeom prst="rect">
            <a:avLst/>
          </a:prstGeom>
        </p:spPr>
      </p:pic>
    </p:spTree>
    <p:extLst>
      <p:ext uri="{BB962C8B-B14F-4D97-AF65-F5344CB8AC3E}">
        <p14:creationId xmlns:p14="http://schemas.microsoft.com/office/powerpoint/2010/main" val="1642816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7138" y="375139"/>
            <a:ext cx="10292862" cy="5504454"/>
          </a:xfrm>
        </p:spPr>
        <p:txBody>
          <a:bodyPr/>
          <a:lstStyle/>
          <a:p>
            <a:pPr marL="0" indent="0" algn="ctr">
              <a:buNone/>
            </a:pPr>
            <a:r>
              <a:rPr lang="en-ZA" b="1" u="sng" dirty="0"/>
              <a:t>Stabilization of a fixed bias</a:t>
            </a:r>
          </a:p>
          <a:p>
            <a:pPr marL="0" indent="0"/>
            <a:r>
              <a:rPr lang="en-ZA" dirty="0"/>
              <a:t>The fixed bias amp is unstable and this will cause a significant change in collector current as the temperature changes. </a:t>
            </a:r>
          </a:p>
          <a:p>
            <a:pPr marL="0" indent="0"/>
            <a:r>
              <a:rPr lang="en-ZA" dirty="0"/>
              <a:t>The collector current will vary with change in temperature because of the following factors:</a:t>
            </a:r>
          </a:p>
          <a:p>
            <a:pPr marL="457200" lvl="1" indent="0"/>
            <a:r>
              <a:rPr lang="en-ZA" b="1" dirty="0"/>
              <a:t>Inverse saturating current/ leakage </a:t>
            </a:r>
            <a:r>
              <a:rPr lang="en-ZA" dirty="0"/>
              <a:t>current which doubles for each 10° increase in temperature</a:t>
            </a:r>
          </a:p>
          <a:p>
            <a:pPr marL="457200" lvl="1" indent="0"/>
            <a:r>
              <a:rPr lang="en-ZA" b="1" dirty="0"/>
              <a:t>Base emitter voltage </a:t>
            </a:r>
            <a:r>
              <a:rPr lang="en-ZA" dirty="0"/>
              <a:t>which decreases with 2.5mV/deg</a:t>
            </a:r>
          </a:p>
          <a:p>
            <a:pPr marL="457200" lvl="1" indent="0"/>
            <a:r>
              <a:rPr lang="en-ZA" b="1" dirty="0"/>
              <a:t>Current gain </a:t>
            </a:r>
            <a:r>
              <a:rPr lang="en-ZA" dirty="0"/>
              <a:t>which increases with temperature</a:t>
            </a:r>
          </a:p>
          <a:p>
            <a:pPr marL="0" indent="0"/>
            <a:r>
              <a:rPr lang="en-ZA" dirty="0"/>
              <a:t>A change in the collector current causes a shift in the work point/ Q-point</a:t>
            </a:r>
          </a:p>
          <a:p>
            <a:pPr marL="0" indent="0" algn="ctr">
              <a:buNone/>
            </a:pPr>
            <a:r>
              <a:rPr lang="en-ZA" b="1" u="sng" dirty="0"/>
              <a:t>To prevent this shift</a:t>
            </a:r>
          </a:p>
          <a:p>
            <a:pPr marL="0" indent="0"/>
            <a:r>
              <a:rPr lang="en-ZA" b="1" dirty="0"/>
              <a:t>Emitter resistor </a:t>
            </a:r>
            <a:r>
              <a:rPr lang="en-ZA" dirty="0"/>
              <a:t>is added between the emitter and ground.</a:t>
            </a:r>
          </a:p>
          <a:p>
            <a:pPr marL="914400" lvl="2" indent="0"/>
            <a:r>
              <a:rPr lang="en-ZA" b="1" dirty="0"/>
              <a:t>This resistor limits the collector current during an increase in temperature.</a:t>
            </a:r>
          </a:p>
          <a:p>
            <a:pPr marL="0" indent="0"/>
            <a:r>
              <a:rPr lang="en-ZA" b="1" dirty="0"/>
              <a:t>Emitter capacitor </a:t>
            </a:r>
            <a:r>
              <a:rPr lang="en-ZA" dirty="0"/>
              <a:t>is added in shunt with the emitter resistor.</a:t>
            </a:r>
          </a:p>
          <a:p>
            <a:pPr marL="914400" lvl="2" indent="0"/>
            <a:r>
              <a:rPr lang="en-ZA" b="1" dirty="0"/>
              <a:t>This capacitor shorts circuits the AC component accumulating around the transistor.</a:t>
            </a:r>
          </a:p>
          <a:p>
            <a:pPr marL="457200" lvl="1" indent="0"/>
            <a:endParaRPr lang="en-ZA" dirty="0"/>
          </a:p>
          <a:p>
            <a:pPr marL="0" indent="0">
              <a:buNone/>
            </a:pPr>
            <a:endParaRPr lang="en-ZA" dirty="0"/>
          </a:p>
          <a:p>
            <a:pPr marL="0" indent="0">
              <a:buNone/>
            </a:pPr>
            <a:endParaRPr lang="en-ZA" dirty="0"/>
          </a:p>
        </p:txBody>
      </p:sp>
    </p:spTree>
    <p:extLst>
      <p:ext uri="{BB962C8B-B14F-4D97-AF65-F5344CB8AC3E}">
        <p14:creationId xmlns:p14="http://schemas.microsoft.com/office/powerpoint/2010/main" val="3381884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532015"/>
          </a:xfrm>
        </p:spPr>
        <p:txBody>
          <a:bodyPr>
            <a:normAutofit fontScale="90000"/>
          </a:bodyPr>
          <a:lstStyle/>
          <a:p>
            <a:r>
              <a:rPr lang="en-US" sz="3600" dirty="0"/>
              <a:t>3.The fixed bias amp with temperature stabilization</a:t>
            </a:r>
          </a:p>
        </p:txBody>
      </p:sp>
      <p:pic>
        <p:nvPicPr>
          <p:cNvPr id="4" name="Content Placeholder 3" descr="WhatsApp Image 2020-04-04 at 11.31.55.jpeg"/>
          <p:cNvPicPr>
            <a:picLocks noGrp="1" noChangeAspect="1"/>
          </p:cNvPicPr>
          <p:nvPr>
            <p:ph idx="1"/>
          </p:nvPr>
        </p:nvPicPr>
        <p:blipFill>
          <a:blip r:embed="rId2">
            <a:biLevel thresh="50000"/>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2708031" y="1537251"/>
            <a:ext cx="7397261" cy="4858663"/>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508569"/>
          </a:xfrm>
        </p:spPr>
        <p:txBody>
          <a:bodyPr>
            <a:normAutofit fontScale="90000"/>
          </a:bodyPr>
          <a:lstStyle/>
          <a:p>
            <a:r>
              <a:rPr lang="en-US" sz="3200" dirty="0"/>
              <a:t>3.Design of a fixed bias amp</a:t>
            </a:r>
          </a:p>
        </p:txBody>
      </p:sp>
      <p:pic>
        <p:nvPicPr>
          <p:cNvPr id="4" name="Content Placeholder 3" descr="WhatsApp Image 2020-04-04 at 12.05.54.jpeg"/>
          <p:cNvPicPr>
            <a:picLocks noGrp="1" noChangeAspect="1"/>
          </p:cNvPicPr>
          <p:nvPr>
            <p:ph idx="1"/>
          </p:nvPr>
        </p:nvPicPr>
        <p:blipFill>
          <a:blip r:embed="rId2">
            <a:biLevel thresh="25000"/>
          </a:blip>
          <a:stretch>
            <a:fillRect/>
          </a:stretch>
        </p:blipFill>
        <p:spPr>
          <a:xfrm>
            <a:off x="1121956" y="925513"/>
            <a:ext cx="4516843" cy="5593055"/>
          </a:xfrm>
        </p:spPr>
      </p:pic>
      <p:pic>
        <p:nvPicPr>
          <p:cNvPr id="5" name="Picture 4" descr="WhatsApp Image 2020-04-04 at 12.07.14.jpeg"/>
          <p:cNvPicPr>
            <a:picLocks noChangeAspect="1"/>
          </p:cNvPicPr>
          <p:nvPr/>
        </p:nvPicPr>
        <p:blipFill>
          <a:blip r:embed="rId3">
            <a:biLevel thresh="25000"/>
          </a:blip>
          <a:stretch>
            <a:fillRect/>
          </a:stretch>
        </p:blipFill>
        <p:spPr>
          <a:xfrm>
            <a:off x="6135817" y="679938"/>
            <a:ext cx="5148858" cy="59318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D50633-43A7-4B1F-8673-E49263442DE3}"/>
              </a:ext>
            </a:extLst>
          </p:cNvPr>
          <p:cNvSpPr>
            <a:spLocks noGrp="1"/>
          </p:cNvSpPr>
          <p:nvPr>
            <p:ph type="title"/>
          </p:nvPr>
        </p:nvSpPr>
        <p:spPr>
          <a:xfrm>
            <a:off x="1251678" y="382385"/>
            <a:ext cx="10178322" cy="1054529"/>
          </a:xfrm>
        </p:spPr>
        <p:txBody>
          <a:bodyPr/>
          <a:lstStyle/>
          <a:p>
            <a:r>
              <a:rPr lang="en-US" dirty="0"/>
              <a:t>4. Activity 1</a:t>
            </a:r>
          </a:p>
        </p:txBody>
      </p:sp>
      <p:pic>
        <p:nvPicPr>
          <p:cNvPr id="1026" name="Picture 2"/>
          <p:cNvPicPr>
            <a:picLocks noGrp="1" noChangeAspect="1" noChangeArrowheads="1"/>
          </p:cNvPicPr>
          <p:nvPr>
            <p:ph idx="1"/>
          </p:nvPr>
        </p:nvPicPr>
        <p:blipFill>
          <a:blip r:embed="rId2"/>
          <a:srcRect t="61063"/>
          <a:stretch>
            <a:fillRect/>
          </a:stretch>
        </p:blipFill>
        <p:spPr bwMode="auto">
          <a:xfrm>
            <a:off x="1686511" y="1652954"/>
            <a:ext cx="9046393" cy="4848468"/>
          </a:xfrm>
          <a:prstGeom prst="rect">
            <a:avLst/>
          </a:prstGeom>
          <a:noFill/>
          <a:ln w="9525">
            <a:noFill/>
            <a:miter lim="800000"/>
            <a:headEnd/>
            <a:tailEnd/>
          </a:ln>
        </p:spPr>
      </p:pic>
    </p:spTree>
    <p:extLst>
      <p:ext uri="{BB962C8B-B14F-4D97-AF65-F5344CB8AC3E}">
        <p14:creationId xmlns:p14="http://schemas.microsoft.com/office/powerpoint/2010/main" val="584221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578907"/>
          </a:xfrm>
        </p:spPr>
        <p:txBody>
          <a:bodyPr>
            <a:normAutofit/>
          </a:bodyPr>
          <a:lstStyle/>
          <a:p>
            <a:r>
              <a:rPr lang="en-US" sz="3200" dirty="0"/>
              <a:t>Activity 2</a:t>
            </a:r>
          </a:p>
        </p:txBody>
      </p:sp>
      <p:pic>
        <p:nvPicPr>
          <p:cNvPr id="3074" name="Picture 2"/>
          <p:cNvPicPr>
            <a:picLocks noGrp="1" noChangeAspect="1" noChangeArrowheads="1"/>
          </p:cNvPicPr>
          <p:nvPr>
            <p:ph idx="1"/>
          </p:nvPr>
        </p:nvPicPr>
        <p:blipFill>
          <a:blip r:embed="rId2"/>
          <a:srcRect t="7278" b="73333"/>
          <a:stretch>
            <a:fillRect/>
          </a:stretch>
        </p:blipFill>
        <p:spPr bwMode="auto">
          <a:xfrm>
            <a:off x="1033908" y="1910862"/>
            <a:ext cx="10498500" cy="280181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07153"/>
          </a:xfrm>
        </p:spPr>
        <p:txBody>
          <a:bodyPr>
            <a:normAutofit/>
          </a:bodyPr>
          <a:lstStyle/>
          <a:p>
            <a:r>
              <a:rPr lang="en-US" sz="3200" dirty="0"/>
              <a:t>exercise</a:t>
            </a:r>
          </a:p>
        </p:txBody>
      </p:sp>
      <p:pic>
        <p:nvPicPr>
          <p:cNvPr id="4" name="Content Placeholder 3" descr="WhatsApp Image 2020-04-04 at 13.52.29.jpeg"/>
          <p:cNvPicPr>
            <a:picLocks noGrp="1" noChangeAspect="1"/>
          </p:cNvPicPr>
          <p:nvPr>
            <p:ph idx="1"/>
          </p:nvPr>
        </p:nvPicPr>
        <p:blipFill>
          <a:blip r:embed="rId2">
            <a:biLevel thresh="50000"/>
          </a:blip>
          <a:stretch>
            <a:fillRect/>
          </a:stretch>
        </p:blipFill>
        <p:spPr>
          <a:xfrm>
            <a:off x="1250950" y="1368487"/>
            <a:ext cx="10179050" cy="4175001"/>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hatsApp Image 2020-04-04 at 13.55.17.jpeg"/>
          <p:cNvPicPr>
            <a:picLocks noGrp="1" noChangeAspect="1"/>
          </p:cNvPicPr>
          <p:nvPr>
            <p:ph idx="1"/>
          </p:nvPr>
        </p:nvPicPr>
        <p:blipFill>
          <a:blip r:embed="rId2">
            <a:biLevel thresh="50000"/>
          </a:blip>
          <a:stretch>
            <a:fillRect/>
          </a:stretch>
        </p:blipFill>
        <p:spPr>
          <a:xfrm>
            <a:off x="2948613" y="352425"/>
            <a:ext cx="6783724" cy="5527675"/>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684415"/>
          </a:xfrm>
        </p:spPr>
        <p:txBody>
          <a:bodyPr>
            <a:normAutofit fontScale="90000"/>
          </a:bodyPr>
          <a:lstStyle/>
          <a:p>
            <a:r>
              <a:rPr lang="en-ZA" dirty="0"/>
              <a:t>2. The potential divider</a:t>
            </a:r>
          </a:p>
        </p:txBody>
      </p:sp>
      <p:sp>
        <p:nvSpPr>
          <p:cNvPr id="3" name="Content Placeholder 2"/>
          <p:cNvSpPr>
            <a:spLocks noGrp="1"/>
          </p:cNvSpPr>
          <p:nvPr>
            <p:ph idx="1"/>
          </p:nvPr>
        </p:nvSpPr>
        <p:spPr>
          <a:xfrm>
            <a:off x="1251678" y="1301262"/>
            <a:ext cx="10178322" cy="5322275"/>
          </a:xfrm>
        </p:spPr>
        <p:txBody>
          <a:bodyPr/>
          <a:lstStyle/>
          <a:p>
            <a:r>
              <a:rPr lang="en-ZA" dirty="0"/>
              <a:t>In a fixed bias amp, the values of the bias current and voltage is dependant on the current gain of the transistor. Meaning that if the current gain changes, the collector current also changes. </a:t>
            </a:r>
          </a:p>
          <a:p>
            <a:r>
              <a:rPr lang="en-ZA" dirty="0">
                <a:solidFill>
                  <a:schemeClr val="tx1"/>
                </a:solidFill>
              </a:rPr>
              <a:t>Because the current gain is temperature sensitive it is necessary to supply to supply a DC bias circuit which is not dependent of the current gain.</a:t>
            </a:r>
          </a:p>
          <a:p>
            <a:r>
              <a:rPr lang="en-ZA" dirty="0">
                <a:solidFill>
                  <a:schemeClr val="tx1"/>
                </a:solidFill>
              </a:rPr>
              <a:t>This type of circuit uses a voltage divider network with Rb1 and Rb2 or R1 and R2</a:t>
            </a:r>
          </a:p>
          <a:p>
            <a:endParaRPr lang="en-ZA" dirty="0">
              <a:solidFill>
                <a:schemeClr val="tx1"/>
              </a:solidFill>
            </a:endParaRPr>
          </a:p>
          <a:p>
            <a:endParaRPr lang="en-ZA" dirty="0"/>
          </a:p>
        </p:txBody>
      </p:sp>
      <p:pic>
        <p:nvPicPr>
          <p:cNvPr id="4" name="Picture 3" descr="amp5.gif"/>
          <p:cNvPicPr>
            <a:picLocks noChangeAspect="1"/>
          </p:cNvPicPr>
          <p:nvPr/>
        </p:nvPicPr>
        <p:blipFill>
          <a:blip r:embed="rId2"/>
          <a:stretch>
            <a:fillRect/>
          </a:stretch>
        </p:blipFill>
        <p:spPr>
          <a:xfrm>
            <a:off x="3615400" y="3212123"/>
            <a:ext cx="4464393" cy="3505200"/>
          </a:xfrm>
          <a:prstGeom prst="rect">
            <a:avLst/>
          </a:prstGeom>
        </p:spPr>
      </p:pic>
    </p:spTree>
    <p:extLst>
      <p:ext uri="{BB962C8B-B14F-4D97-AF65-F5344CB8AC3E}">
        <p14:creationId xmlns:p14="http://schemas.microsoft.com/office/powerpoint/2010/main" val="2652646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E0A1EC-C732-4780-B2A9-868CEF7773AC}"/>
              </a:ext>
            </a:extLst>
          </p:cNvPr>
          <p:cNvSpPr>
            <a:spLocks noGrp="1"/>
          </p:cNvSpPr>
          <p:nvPr>
            <p:ph type="title"/>
          </p:nvPr>
        </p:nvSpPr>
        <p:spPr>
          <a:xfrm>
            <a:off x="1251678" y="382385"/>
            <a:ext cx="10178322" cy="473400"/>
          </a:xfrm>
        </p:spPr>
        <p:txBody>
          <a:bodyPr>
            <a:normAutofit/>
          </a:bodyPr>
          <a:lstStyle/>
          <a:p>
            <a:r>
              <a:rPr lang="en-US" sz="2000" dirty="0"/>
              <a:t>A. Concept</a:t>
            </a:r>
          </a:p>
        </p:txBody>
      </p:sp>
      <p:sp>
        <p:nvSpPr>
          <p:cNvPr id="3" name="Content Placeholder 2">
            <a:extLst>
              <a:ext uri="{FF2B5EF4-FFF2-40B4-BE49-F238E27FC236}">
                <a16:creationId xmlns:a16="http://schemas.microsoft.com/office/drawing/2014/main" xmlns="" id="{5874306C-4535-46CB-BD1D-1D404E40E18A}"/>
              </a:ext>
            </a:extLst>
          </p:cNvPr>
          <p:cNvSpPr>
            <a:spLocks noGrp="1"/>
          </p:cNvSpPr>
          <p:nvPr>
            <p:ph idx="1"/>
          </p:nvPr>
        </p:nvSpPr>
        <p:spPr>
          <a:xfrm>
            <a:off x="1251678" y="785447"/>
            <a:ext cx="10283830" cy="5943600"/>
          </a:xfrm>
        </p:spPr>
        <p:txBody>
          <a:bodyPr/>
          <a:lstStyle/>
          <a:p>
            <a:pPr marL="0" indent="0" algn="ctr">
              <a:buNone/>
            </a:pPr>
            <a:r>
              <a:rPr lang="en-US" b="1" u="sng" dirty="0"/>
              <a:t>To design a potential divider amp, the following must apply</a:t>
            </a:r>
          </a:p>
          <a:p>
            <a:pPr marL="0" indent="0">
              <a:buNone/>
            </a:pPr>
            <a:endParaRPr lang="en-US" dirty="0"/>
          </a:p>
          <a:p>
            <a:pPr marL="0" indent="0" algn="ctr">
              <a:buNone/>
            </a:pPr>
            <a:r>
              <a:rPr lang="en-US" b="1" u="sng" dirty="0"/>
              <a:t> </a:t>
            </a:r>
          </a:p>
          <a:p>
            <a:pPr marL="0" indent="0" algn="ctr">
              <a:buNone/>
            </a:pPr>
            <a:endParaRPr lang="en-US" b="1" u="sng" dirty="0"/>
          </a:p>
          <a:p>
            <a:pPr marL="0" indent="0">
              <a:buNone/>
            </a:pPr>
            <a:endParaRPr lang="en-US" b="1" u="sng" dirty="0"/>
          </a:p>
        </p:txBody>
      </p:sp>
      <p:pic>
        <p:nvPicPr>
          <p:cNvPr id="4" name="Picture 3" descr="WhatsApp Image 2020-04-08 at 09.45.25.jpeg"/>
          <p:cNvPicPr>
            <a:picLocks noChangeAspect="1"/>
          </p:cNvPicPr>
          <p:nvPr/>
        </p:nvPicPr>
        <p:blipFill>
          <a:blip r:embed="rId2"/>
          <a:srcRect r="13633"/>
          <a:stretch>
            <a:fillRect/>
          </a:stretch>
        </p:blipFill>
        <p:spPr>
          <a:xfrm>
            <a:off x="3892061" y="1254369"/>
            <a:ext cx="4443556" cy="5532289"/>
          </a:xfrm>
          <a:prstGeom prst="rect">
            <a:avLst/>
          </a:prstGeom>
        </p:spPr>
      </p:pic>
    </p:spTree>
    <p:extLst>
      <p:ext uri="{BB962C8B-B14F-4D97-AF65-F5344CB8AC3E}">
        <p14:creationId xmlns:p14="http://schemas.microsoft.com/office/powerpoint/2010/main" val="1559505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example</a:t>
            </a:r>
          </a:p>
        </p:txBody>
      </p:sp>
      <p:pic>
        <p:nvPicPr>
          <p:cNvPr id="4" name="Content Placeholder 3" descr="WhatsApp Image 2020-04-08 at 10.04.20.jpeg"/>
          <p:cNvPicPr>
            <a:picLocks noGrp="1" noChangeAspect="1"/>
          </p:cNvPicPr>
          <p:nvPr>
            <p:ph idx="1"/>
          </p:nvPr>
        </p:nvPicPr>
        <p:blipFill>
          <a:blip r:embed="rId2">
            <a:biLevel thresh="50000"/>
            <a:extLst>
              <a:ext uri="{BEBA8EAE-BF5A-486C-A8C5-ECC9F3942E4B}">
                <a14:imgProps xmlns:a14="http://schemas.microsoft.com/office/drawing/2010/main">
                  <a14:imgLayer r:embed="rId3">
                    <a14:imgEffect>
                      <a14:sharpenSoften amount="50000"/>
                    </a14:imgEffect>
                    <a14:imgEffect>
                      <a14:brightnessContrast bright="20000"/>
                    </a14:imgEffect>
                  </a14:imgLayer>
                </a14:imgProps>
              </a:ext>
            </a:extLst>
          </a:blip>
          <a:stretch>
            <a:fillRect/>
          </a:stretch>
        </p:blipFill>
        <p:spPr>
          <a:xfrm>
            <a:off x="1221010" y="1137871"/>
            <a:ext cx="4799421" cy="4765675"/>
          </a:xfrm>
        </p:spPr>
      </p:pic>
      <p:pic>
        <p:nvPicPr>
          <p:cNvPr id="5" name="Picture 4" descr="WhatsApp Image 2020-04-08 at 10.04.19.jpeg"/>
          <p:cNvPicPr>
            <a:picLocks noChangeAspect="1"/>
          </p:cNvPicPr>
          <p:nvPr/>
        </p:nvPicPr>
        <p:blipFill>
          <a:blip r:embed="rId4">
            <a:biLevel thresh="50000"/>
          </a:blip>
          <a:srcRect t="6838" r="6042" b="9231"/>
          <a:stretch>
            <a:fillRect/>
          </a:stretch>
        </p:blipFill>
        <p:spPr>
          <a:xfrm>
            <a:off x="6013939" y="562707"/>
            <a:ext cx="5392615" cy="57560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07153"/>
          </a:xfrm>
        </p:spPr>
        <p:txBody>
          <a:bodyPr>
            <a:normAutofit/>
          </a:bodyPr>
          <a:lstStyle/>
          <a:p>
            <a:r>
              <a:rPr lang="en-US" sz="3200" dirty="0"/>
              <a:t>Exercise 1</a:t>
            </a:r>
          </a:p>
        </p:txBody>
      </p:sp>
      <p:pic>
        <p:nvPicPr>
          <p:cNvPr id="4" name="Content Placeholder 3" descr="WhatsApp Image 2020-04-08 at 10.24.05.jpeg"/>
          <p:cNvPicPr>
            <a:picLocks noGrp="1" noChangeAspect="1"/>
          </p:cNvPicPr>
          <p:nvPr>
            <p:ph idx="1"/>
          </p:nvPr>
        </p:nvPicPr>
        <p:blipFill>
          <a:blip r:embed="rId2">
            <a:biLevel thresh="50000"/>
          </a:blip>
          <a:stretch>
            <a:fillRect/>
          </a:stretch>
        </p:blipFill>
        <p:spPr>
          <a:xfrm>
            <a:off x="2013286" y="1208088"/>
            <a:ext cx="8654378" cy="4672012"/>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pic>
        <p:nvPicPr>
          <p:cNvPr id="4" name="Content Placeholder 3" descr="WhatsApp Image 2020-04-08 at 10.24.04.jpeg"/>
          <p:cNvPicPr>
            <a:picLocks noGrp="1" noChangeAspect="1"/>
          </p:cNvPicPr>
          <p:nvPr>
            <p:ph idx="1"/>
          </p:nvPr>
        </p:nvPicPr>
        <p:blipFill>
          <a:blip r:embed="rId2">
            <a:biLevel thresh="50000"/>
          </a:blip>
          <a:stretch>
            <a:fillRect/>
          </a:stretch>
        </p:blipFill>
        <p:spPr>
          <a:xfrm>
            <a:off x="719648" y="1418492"/>
            <a:ext cx="10710352" cy="4607169"/>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654242"/>
          </a:xfrm>
        </p:spPr>
        <p:txBody>
          <a:bodyPr>
            <a:normAutofit/>
          </a:bodyPr>
          <a:lstStyle/>
          <a:p>
            <a:r>
              <a:rPr lang="en-US" sz="2000" dirty="0"/>
              <a:t>H-equivalent circuits </a:t>
            </a:r>
          </a:p>
        </p:txBody>
      </p:sp>
      <p:pic>
        <p:nvPicPr>
          <p:cNvPr id="4" name="Content Placeholder 3" descr="WhatsApp Image 2020-05-03 at 12.41.58 (1).jpeg"/>
          <p:cNvPicPr>
            <a:picLocks noGrp="1" noChangeAspect="1"/>
          </p:cNvPicPr>
          <p:nvPr>
            <p:ph idx="1"/>
          </p:nvPr>
        </p:nvPicPr>
        <p:blipFill>
          <a:blip r:embed="rId2">
            <a:biLevel thresh="50000"/>
          </a:blip>
          <a:stretch>
            <a:fillRect/>
          </a:stretch>
        </p:blipFill>
        <p:spPr>
          <a:xfrm>
            <a:off x="2198635" y="1036627"/>
            <a:ext cx="4029732" cy="5106987"/>
          </a:xfrm>
        </p:spPr>
      </p:pic>
      <p:pic>
        <p:nvPicPr>
          <p:cNvPr id="5" name="Picture 4" descr="WhatsApp Image 2020-05-03 at 12.45.26.jpeg"/>
          <p:cNvPicPr>
            <a:picLocks noChangeAspect="1"/>
          </p:cNvPicPr>
          <p:nvPr/>
        </p:nvPicPr>
        <p:blipFill rotWithShape="1">
          <a:blip r:embed="rId3">
            <a:biLevel thresh="50000"/>
          </a:blip>
          <a:srcRect l="4746"/>
          <a:stretch/>
        </p:blipFill>
        <p:spPr>
          <a:xfrm>
            <a:off x="6771861" y="741149"/>
            <a:ext cx="4402780" cy="51943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hatsApp Image 2020-05-03 at 12.41.58.jpeg"/>
          <p:cNvPicPr>
            <a:picLocks noGrp="1" noChangeAspect="1"/>
          </p:cNvPicPr>
          <p:nvPr>
            <p:ph idx="1"/>
          </p:nvPr>
        </p:nvPicPr>
        <p:blipFill rotWithShape="1">
          <a:blip r:embed="rId2">
            <a:biLevel thresh="50000"/>
          </a:blip>
          <a:srcRect l="5070" t="6495" r="2506"/>
          <a:stretch/>
        </p:blipFill>
        <p:spPr>
          <a:xfrm>
            <a:off x="1749287" y="92765"/>
            <a:ext cx="7394714" cy="3360658"/>
          </a:xfrm>
        </p:spPr>
      </p:pic>
      <p:pic>
        <p:nvPicPr>
          <p:cNvPr id="5" name="Picture 4" descr="WhatsApp Image 2020-05-03 at 12.41.57 (1).jpeg"/>
          <p:cNvPicPr>
            <a:picLocks noChangeAspect="1"/>
          </p:cNvPicPr>
          <p:nvPr/>
        </p:nvPicPr>
        <p:blipFill>
          <a:blip r:embed="rId3">
            <a:biLevel thresh="50000"/>
          </a:blip>
          <a:stretch>
            <a:fillRect/>
          </a:stretch>
        </p:blipFill>
        <p:spPr>
          <a:xfrm>
            <a:off x="1296675" y="3453423"/>
            <a:ext cx="7991649" cy="351543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07153"/>
          </a:xfrm>
        </p:spPr>
        <p:txBody>
          <a:bodyPr>
            <a:normAutofit/>
          </a:bodyPr>
          <a:lstStyle/>
          <a:p>
            <a:r>
              <a:rPr lang="en-US" sz="3200" dirty="0"/>
              <a:t>Example</a:t>
            </a:r>
          </a:p>
        </p:txBody>
      </p:sp>
      <p:pic>
        <p:nvPicPr>
          <p:cNvPr id="6" name="Content Placeholder 5">
            <a:extLst>
              <a:ext uri="{FF2B5EF4-FFF2-40B4-BE49-F238E27FC236}">
                <a16:creationId xmlns:a16="http://schemas.microsoft.com/office/drawing/2014/main" xmlns="" id="{297AB6FC-E134-4944-A494-312142ABA9EF}"/>
              </a:ext>
            </a:extLst>
          </p:cNvPr>
          <p:cNvPicPr>
            <a:picLocks noGrp="1" noChangeAspect="1"/>
          </p:cNvPicPr>
          <p:nvPr>
            <p:ph idx="1"/>
          </p:nvPr>
        </p:nvPicPr>
        <p:blipFill>
          <a:blip r:embed="rId2">
            <a:biLevel thresh="50000"/>
          </a:blip>
          <a:stretch>
            <a:fillRect/>
          </a:stretch>
        </p:blipFill>
        <p:spPr>
          <a:xfrm>
            <a:off x="940904" y="835960"/>
            <a:ext cx="8952550" cy="602203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31CEC9-9434-4281-AC89-4AB8195FE3E8}"/>
              </a:ext>
            </a:extLst>
          </p:cNvPr>
          <p:cNvSpPr>
            <a:spLocks noGrp="1"/>
          </p:cNvSpPr>
          <p:nvPr>
            <p:ph type="title"/>
          </p:nvPr>
        </p:nvSpPr>
        <p:spPr>
          <a:xfrm>
            <a:off x="1251678" y="382385"/>
            <a:ext cx="10178322" cy="596023"/>
          </a:xfrm>
        </p:spPr>
        <p:txBody>
          <a:bodyPr>
            <a:normAutofit fontScale="90000"/>
          </a:bodyPr>
          <a:lstStyle/>
          <a:p>
            <a:r>
              <a:rPr lang="en-ZA" dirty="0"/>
              <a:t>Solution</a:t>
            </a:r>
            <a:br>
              <a:rPr lang="en-ZA" dirty="0"/>
            </a:br>
            <a:endParaRPr lang="en-ZA" dirty="0"/>
          </a:p>
        </p:txBody>
      </p:sp>
      <p:pic>
        <p:nvPicPr>
          <p:cNvPr id="4" name="Content Placeholder 3">
            <a:extLst>
              <a:ext uri="{FF2B5EF4-FFF2-40B4-BE49-F238E27FC236}">
                <a16:creationId xmlns:a16="http://schemas.microsoft.com/office/drawing/2014/main" xmlns="" id="{6E26B1B8-FDFC-4AB1-BB79-5EAE8478B56C}"/>
              </a:ext>
            </a:extLst>
          </p:cNvPr>
          <p:cNvPicPr>
            <a:picLocks noGrp="1" noChangeAspect="1"/>
          </p:cNvPicPr>
          <p:nvPr>
            <p:ph idx="1"/>
          </p:nvPr>
        </p:nvPicPr>
        <p:blipFill>
          <a:blip r:embed="rId2">
            <a:biLevel thresh="75000"/>
          </a:blip>
          <a:stretch>
            <a:fillRect/>
          </a:stretch>
        </p:blipFill>
        <p:spPr>
          <a:xfrm>
            <a:off x="947530" y="978408"/>
            <a:ext cx="7723193" cy="5879592"/>
          </a:xfrm>
          <a:prstGeom prst="rect">
            <a:avLst/>
          </a:prstGeom>
        </p:spPr>
      </p:pic>
    </p:spTree>
    <p:extLst>
      <p:ext uri="{BB962C8B-B14F-4D97-AF65-F5344CB8AC3E}">
        <p14:creationId xmlns:p14="http://schemas.microsoft.com/office/powerpoint/2010/main" val="1880455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4604" y="1311005"/>
            <a:ext cx="10554470" cy="4317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6626001"/>
      </p:ext>
    </p:extLst>
  </p:cSld>
  <p:clrMapOvr>
    <a:masterClrMapping/>
  </p:clrMapOvr>
</p:sld>
</file>

<file path=ppt/theme/theme1.xml><?xml version="1.0" encoding="utf-8"?>
<a:theme xmlns:a="http://schemas.openxmlformats.org/drawingml/2006/main" name="Badge">
  <a:themeElements>
    <a:clrScheme name="Custom 5">
      <a:dk1>
        <a:sysClr val="windowText" lastClr="000000"/>
      </a:dk1>
      <a:lt1>
        <a:sysClr val="window" lastClr="FFFFFF"/>
      </a:lt1>
      <a:dk2>
        <a:srgbClr val="264457"/>
      </a:dk2>
      <a:lt2>
        <a:srgbClr val="DFE3E5"/>
      </a:lt2>
      <a:accent1>
        <a:srgbClr val="264457"/>
      </a:accent1>
      <a:accent2>
        <a:srgbClr val="264457"/>
      </a:accent2>
      <a:accent3>
        <a:srgbClr val="0D304A"/>
      </a:accent3>
      <a:accent4>
        <a:srgbClr val="42BA97"/>
      </a:accent4>
      <a:accent5>
        <a:srgbClr val="3E8853"/>
      </a:accent5>
      <a:accent6>
        <a:srgbClr val="62A39F"/>
      </a:accent6>
      <a:hlink>
        <a:srgbClr val="6EAC1C"/>
      </a:hlink>
      <a:folHlink>
        <a:srgbClr val="B26B02"/>
      </a:folHlink>
    </a:clrScheme>
    <a:fontScheme name="Badge">
      <a:majorFont>
        <a:latin typeface="Impact"/>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
  <TotalTime>1576</TotalTime>
  <Words>619</Words>
  <Application>Microsoft Office PowerPoint</Application>
  <PresentationFormat>Custom</PresentationFormat>
  <Paragraphs>79</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Badge</vt:lpstr>
      <vt:lpstr>Industrial electronics N5 (8080175)</vt:lpstr>
      <vt:lpstr>Transistor amps</vt:lpstr>
      <vt:lpstr>outline</vt:lpstr>
      <vt:lpstr>1. Learning outcomes</vt:lpstr>
      <vt:lpstr>2. introduction</vt:lpstr>
      <vt:lpstr>3. transistor</vt:lpstr>
      <vt:lpstr>3.The fixed bias amp</vt:lpstr>
      <vt:lpstr>PowerPoint Presentation</vt:lpstr>
      <vt:lpstr>3.The fixed bias amp with temperature stabilization</vt:lpstr>
      <vt:lpstr>3.Design of a fixed bias amp</vt:lpstr>
      <vt:lpstr>4. Activity 1</vt:lpstr>
      <vt:lpstr>Activity 2</vt:lpstr>
      <vt:lpstr>exercise</vt:lpstr>
      <vt:lpstr>PowerPoint Presentation</vt:lpstr>
      <vt:lpstr>2. The potential divider</vt:lpstr>
      <vt:lpstr>A. Concept</vt:lpstr>
      <vt:lpstr>example</vt:lpstr>
      <vt:lpstr>Exercise 1</vt:lpstr>
      <vt:lpstr>Exercise 2</vt:lpstr>
      <vt:lpstr>H-equivalent circuits </vt:lpstr>
      <vt:lpstr>PowerPoint Presentation</vt:lpstr>
      <vt:lpstr>Example</vt:lpstr>
      <vt:lpstr>Solution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ELECTRONICS N5</dc:title>
  <dc:creator>HS Mbele</dc:creator>
  <cp:lastModifiedBy>Sizwe Mbele</cp:lastModifiedBy>
  <cp:revision>100</cp:revision>
  <dcterms:created xsi:type="dcterms:W3CDTF">2020-03-17T09:52:53Z</dcterms:created>
  <dcterms:modified xsi:type="dcterms:W3CDTF">2026-04-21T07:40:45Z</dcterms:modified>
</cp:coreProperties>
</file>